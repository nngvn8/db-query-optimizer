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20"/>
  </p:notesMasterIdLst>
  <p:handoutMasterIdLst>
    <p:handoutMasterId r:id="rId21"/>
  </p:handoutMasterIdLst>
  <p:sldIdLst>
    <p:sldId id="258" r:id="rId2"/>
    <p:sldId id="435" r:id="rId3"/>
    <p:sldId id="267" r:id="rId4"/>
    <p:sldId id="270" r:id="rId5"/>
    <p:sldId id="436" r:id="rId6"/>
    <p:sldId id="433" r:id="rId7"/>
    <p:sldId id="383" r:id="rId8"/>
    <p:sldId id="443" r:id="rId9"/>
    <p:sldId id="434" r:id="rId10"/>
    <p:sldId id="444" r:id="rId11"/>
    <p:sldId id="438" r:id="rId12"/>
    <p:sldId id="439" r:id="rId13"/>
    <p:sldId id="437" r:id="rId14"/>
    <p:sldId id="440" r:id="rId15"/>
    <p:sldId id="441" r:id="rId16"/>
    <p:sldId id="446" r:id="rId17"/>
    <p:sldId id="442" r:id="rId18"/>
    <p:sldId id="445" r:id="rId19"/>
  </p:sldIdLst>
  <p:sldSz cx="9144000" cy="5143500" type="screen16x9"/>
  <p:notesSz cx="6797675" cy="987425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E8197"/>
    <a:srgbClr val="4677A0"/>
    <a:srgbClr val="B1D284"/>
    <a:srgbClr val="29BC9F"/>
    <a:srgbClr val="40B498"/>
    <a:srgbClr val="E7F4EE"/>
    <a:srgbClr val="E7F4E4"/>
    <a:srgbClr val="87D4AF"/>
    <a:srgbClr val="508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75217" autoAdjust="0"/>
  </p:normalViewPr>
  <p:slideViewPr>
    <p:cSldViewPr snapToGrid="0">
      <p:cViewPr varScale="1">
        <p:scale>
          <a:sx n="238" d="100"/>
          <a:sy n="238" d="100"/>
        </p:scale>
        <p:origin x="2532" y="1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449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2165-45DD-4E6A-8D88-991CFCF20576}" type="datetimeFigureOut">
              <a:rPr lang="de-DE" smtClean="0"/>
              <a:t>24.10.2025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92895-00AB-4E56-A4C3-B2032C42F3A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6150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2A775-C49D-45BA-A919-7D687A0440E7}" type="datetimeFigureOut">
              <a:rPr lang="de-DE" smtClean="0"/>
              <a:t>24.10.2025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11513" y="1048806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A0D67-EDAE-48EC-829F-B147F97990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45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511175" y="1049338"/>
            <a:ext cx="5924550" cy="33337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A0D67-EDAE-48EC-829F-B147F979906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0280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511175" y="1049338"/>
            <a:ext cx="5924550" cy="33337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D2026-B054-4C01-8473-47B83C1FFE3E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737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2">
            <a:extLst>
              <a:ext uri="{FF2B5EF4-FFF2-40B4-BE49-F238E27FC236}">
                <a16:creationId xmlns:a16="http://schemas.microsoft.com/office/drawing/2014/main" id="{78EB5448-CB43-4AB5-9896-966A304F24F6}"/>
              </a:ext>
            </a:extLst>
          </p:cNvPr>
          <p:cNvSpPr/>
          <p:nvPr userDrawn="1"/>
        </p:nvSpPr>
        <p:spPr>
          <a:xfrm>
            <a:off x="0" y="0"/>
            <a:ext cx="9144000" cy="3281516"/>
          </a:xfrm>
          <a:prstGeom prst="rect">
            <a:avLst/>
          </a:prstGeom>
          <a:solidFill>
            <a:srgbClr val="00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D0E3F3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5810B3-36E7-45C1-B2D9-2390CFF36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0" y="3489836"/>
            <a:ext cx="7617519" cy="832726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algn="l">
              <a:defRPr sz="2800" b="1" cap="none" baseline="0">
                <a:solidFill>
                  <a:srgbClr val="0014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367903-E3EB-477B-A699-F45F3DE48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00" y="4403725"/>
            <a:ext cx="6840000" cy="324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8C41BBC-6449-4D54-AAE1-BA9DD75749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336" y="151471"/>
            <a:ext cx="1392871" cy="57996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0F23A0E-B856-46A2-AD26-40FDD3F8AC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1236" y="235721"/>
            <a:ext cx="1183989" cy="411468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9DF8DB4-0052-40D0-95EE-CE0CE38DE526}"/>
              </a:ext>
            </a:extLst>
          </p:cNvPr>
          <p:cNvGrpSpPr/>
          <p:nvPr userDrawn="1"/>
        </p:nvGrpSpPr>
        <p:grpSpPr>
          <a:xfrm>
            <a:off x="0" y="-1"/>
            <a:ext cx="5969752" cy="3281517"/>
            <a:chOff x="23346" y="19454"/>
            <a:chExt cx="5969752" cy="3281517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317DBEEB-21E6-4BCE-8C61-17F1336BB2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0609" t="49971" r="-1" b="332"/>
            <a:stretch/>
          </p:blipFill>
          <p:spPr>
            <a:xfrm>
              <a:off x="23346" y="19454"/>
              <a:ext cx="1894048" cy="1905749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4AC1ED8C-70C9-43AA-A480-E9C857A0C2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-334" b="17173"/>
            <a:stretch/>
          </p:blipFill>
          <p:spPr>
            <a:xfrm>
              <a:off x="120458" y="111949"/>
              <a:ext cx="3834788" cy="3189022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FD9330AF-ACCE-4A8A-B17D-205B2DC7C2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49915" t="-334" b="70094"/>
            <a:stretch/>
          </p:blipFill>
          <p:spPr>
            <a:xfrm>
              <a:off x="23346" y="2141313"/>
              <a:ext cx="1920654" cy="1159658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BE78F5D6-9F34-4E07-9585-F1D8509E102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t="-335" b="69891"/>
            <a:stretch/>
          </p:blipFill>
          <p:spPr>
            <a:xfrm>
              <a:off x="2158310" y="2133525"/>
              <a:ext cx="3834788" cy="1167446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73171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2">
            <a:extLst>
              <a:ext uri="{FF2B5EF4-FFF2-40B4-BE49-F238E27FC236}">
                <a16:creationId xmlns:a16="http://schemas.microsoft.com/office/drawing/2014/main" id="{78EB5448-CB43-4AB5-9896-966A304F24F6}"/>
              </a:ext>
            </a:extLst>
          </p:cNvPr>
          <p:cNvSpPr/>
          <p:nvPr userDrawn="1"/>
        </p:nvSpPr>
        <p:spPr>
          <a:xfrm>
            <a:off x="0" y="0"/>
            <a:ext cx="9144000" cy="3281516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D0E3F3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367903-E3EB-477B-A699-F45F3DE48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00" y="4403725"/>
            <a:ext cx="6840000" cy="324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8C41BBC-6449-4D54-AAE1-BA9DD75749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336" y="151471"/>
            <a:ext cx="1392871" cy="57996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0F23A0E-B856-46A2-AD26-40FDD3F8AC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1236" y="235721"/>
            <a:ext cx="1183989" cy="41146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A5810B3-36E7-45C1-B2D9-2390CFF36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0" y="3489836"/>
            <a:ext cx="7617519" cy="832726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algn="l">
              <a:defRPr sz="2800" b="1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1" name="Textfeld 5">
            <a:extLst>
              <a:ext uri="{FF2B5EF4-FFF2-40B4-BE49-F238E27FC236}">
                <a16:creationId xmlns:a16="http://schemas.microsoft.com/office/drawing/2014/main" id="{415E0A4B-2D60-4A02-BB55-0ABCFB2E0462}"/>
              </a:ext>
            </a:extLst>
          </p:cNvPr>
          <p:cNvSpPr txBox="1"/>
          <p:nvPr userDrawn="1"/>
        </p:nvSpPr>
        <p:spPr>
          <a:xfrm>
            <a:off x="133308" y="0"/>
            <a:ext cx="5139084" cy="4616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0" b="1" dirty="0">
                <a:ln w="63500">
                  <a:noFill/>
                </a:ln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</a:t>
            </a:r>
            <a:endParaRPr lang="de-DE" sz="30000" b="1" dirty="0">
              <a:ln w="63500">
                <a:noFill/>
              </a:ln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98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9">
            <a:extLst>
              <a:ext uri="{FF2B5EF4-FFF2-40B4-BE49-F238E27FC236}">
                <a16:creationId xmlns:a16="http://schemas.microsoft.com/office/drawing/2014/main" id="{156B425A-DC3F-4CA5-9A32-FC1A4F41BC32}"/>
              </a:ext>
            </a:extLst>
          </p:cNvPr>
          <p:cNvSpPr/>
          <p:nvPr userDrawn="1"/>
        </p:nvSpPr>
        <p:spPr>
          <a:xfrm>
            <a:off x="0" y="478350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3">
            <a:extLst>
              <a:ext uri="{FF2B5EF4-FFF2-40B4-BE49-F238E27FC236}">
                <a16:creationId xmlns:a16="http://schemas.microsoft.com/office/drawing/2014/main" id="{7F731D6F-1D08-497C-9B88-A950D5A1974B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AB3FB9C-DEB1-4BC4-BDFC-2123B6314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37932E3-D133-477E-809F-5012C6A60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0" y="3489836"/>
            <a:ext cx="7617519" cy="832726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algn="l">
              <a:defRPr sz="2400" b="1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2" name="Rechteck 2">
            <a:extLst>
              <a:ext uri="{FF2B5EF4-FFF2-40B4-BE49-F238E27FC236}">
                <a16:creationId xmlns:a16="http://schemas.microsoft.com/office/drawing/2014/main" id="{FA0F772F-55F9-4F52-A39C-091B2FABCD1E}"/>
              </a:ext>
            </a:extLst>
          </p:cNvPr>
          <p:cNvSpPr/>
          <p:nvPr userDrawn="1"/>
        </p:nvSpPr>
        <p:spPr>
          <a:xfrm>
            <a:off x="0" y="820938"/>
            <a:ext cx="9144000" cy="2491571"/>
          </a:xfrm>
          <a:prstGeom prst="rect">
            <a:avLst/>
          </a:prstGeom>
          <a:solidFill>
            <a:srgbClr val="97C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6252AC84-014D-4AFD-9C9D-FFDAC39E1330}"/>
              </a:ext>
            </a:extLst>
          </p:cNvPr>
          <p:cNvGrpSpPr/>
          <p:nvPr userDrawn="1"/>
        </p:nvGrpSpPr>
        <p:grpSpPr>
          <a:xfrm>
            <a:off x="0" y="0"/>
            <a:ext cx="6031824" cy="3315637"/>
            <a:chOff x="23346" y="19454"/>
            <a:chExt cx="5969752" cy="3281517"/>
          </a:xfrm>
          <a:solidFill>
            <a:schemeClr val="bg1"/>
          </a:solidFill>
        </p:grpSpPr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325737AF-D09D-4E17-B8F7-95C08F6E58B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50609" t="49971" r="-1" b="332"/>
            <a:stretch/>
          </p:blipFill>
          <p:spPr>
            <a:xfrm>
              <a:off x="23346" y="19454"/>
              <a:ext cx="1894048" cy="1905749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98E0A8F9-D015-4DEA-8888-2CFCC480946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-2533" t="-334" r="-1375" b="17173"/>
            <a:stretch/>
          </p:blipFill>
          <p:spPr>
            <a:xfrm>
              <a:off x="23346" y="111949"/>
              <a:ext cx="3984659" cy="3189022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47" name="Grafik 46">
              <a:extLst>
                <a:ext uri="{FF2B5EF4-FFF2-40B4-BE49-F238E27FC236}">
                  <a16:creationId xmlns:a16="http://schemas.microsoft.com/office/drawing/2014/main" id="{2481B8EC-B85F-4461-AC06-5810AF63E0F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49915" t="-1473" b="70094"/>
            <a:stretch/>
          </p:blipFill>
          <p:spPr>
            <a:xfrm>
              <a:off x="23346" y="2097609"/>
              <a:ext cx="1920654" cy="1203362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48" name="Grafik 47">
              <a:extLst>
                <a:ext uri="{FF2B5EF4-FFF2-40B4-BE49-F238E27FC236}">
                  <a16:creationId xmlns:a16="http://schemas.microsoft.com/office/drawing/2014/main" id="{4F4B5570-069A-44ED-9D17-93BEED091EC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-335" b="69891"/>
            <a:stretch/>
          </p:blipFill>
          <p:spPr>
            <a:xfrm>
              <a:off x="2158310" y="2133525"/>
              <a:ext cx="3834788" cy="1167446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58606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C76BFC-A0B5-41C2-9F46-18F42AD0D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00" y="918992"/>
            <a:ext cx="8784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90488" indent="-90488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 b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defRPr sz="1200" b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200150" indent="-171450">
              <a:buFont typeface="Arial" panose="020B0604020202020204" pitchFamily="34" charset="0"/>
              <a:buChar char="•"/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38D5B92-0678-4014-8144-A83886AB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255600"/>
            <a:ext cx="6480000" cy="432000"/>
          </a:xfrm>
          <a:prstGeom prst="rect">
            <a:avLst/>
          </a:prstGeom>
        </p:spPr>
        <p:txBody>
          <a:bodyPr anchor="t"/>
          <a:lstStyle>
            <a:lvl1pPr>
              <a:defRPr sz="2200"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Rechteck 9">
            <a:extLst>
              <a:ext uri="{FF2B5EF4-FFF2-40B4-BE49-F238E27FC236}">
                <a16:creationId xmlns:a16="http://schemas.microsoft.com/office/drawing/2014/main" id="{8667E8E4-144C-4439-ACFF-8EAE1A912139}"/>
              </a:ext>
            </a:extLst>
          </p:cNvPr>
          <p:cNvSpPr/>
          <p:nvPr userDrawn="1"/>
        </p:nvSpPr>
        <p:spPr>
          <a:xfrm>
            <a:off x="0" y="478169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3">
            <a:extLst>
              <a:ext uri="{FF2B5EF4-FFF2-40B4-BE49-F238E27FC236}">
                <a16:creationId xmlns:a16="http://schemas.microsoft.com/office/drawing/2014/main" id="{58BC81EA-751F-4B73-877A-BA1B3F80CC16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8FFADE0-5169-429A-80D3-48D8CFAB82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3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24046-3C76-4DC2-BA67-A69839A06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00" y="918992"/>
            <a:ext cx="4248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tabLst>
                <a:tab pos="4124325" algn="l"/>
              </a:tabLst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507A55-4D50-4BD2-A803-00062D16A6D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16000" y="918992"/>
            <a:ext cx="4248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normalizeH="0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200150" indent="-171450">
              <a:buFont typeface="Muli" panose="00000500000000000000" pitchFamily="2" charset="0"/>
              <a:buChar char="•"/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776CB73-0C61-4C90-B5F8-7055FBF3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255600"/>
            <a:ext cx="6480000" cy="432000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Rechteck 9">
            <a:extLst>
              <a:ext uri="{FF2B5EF4-FFF2-40B4-BE49-F238E27FC236}">
                <a16:creationId xmlns:a16="http://schemas.microsoft.com/office/drawing/2014/main" id="{411A694B-DC94-41DA-879E-BCF3F7CA8245}"/>
              </a:ext>
            </a:extLst>
          </p:cNvPr>
          <p:cNvSpPr/>
          <p:nvPr userDrawn="1"/>
        </p:nvSpPr>
        <p:spPr>
          <a:xfrm>
            <a:off x="0" y="478350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3">
            <a:extLst>
              <a:ext uri="{FF2B5EF4-FFF2-40B4-BE49-F238E27FC236}">
                <a16:creationId xmlns:a16="http://schemas.microsoft.com/office/drawing/2014/main" id="{2DEFAFCD-E91B-4F39-BD91-89E4E44EA446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EDD851-9A95-47FF-8CA0-17B9D2B3A6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7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B5BE-8D86-40AF-80CB-484B2DB69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00" y="918992"/>
            <a:ext cx="2772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013DE7-AF95-4097-9F10-23E9F56848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92000" y="918992"/>
            <a:ext cx="2772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tabLst>
                <a:tab pos="627063" algn="l"/>
              </a:tabLst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C04079-1F7D-474D-8317-327DB5F8151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186000" y="918992"/>
            <a:ext cx="2772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D40147BA-88B8-4FBA-A040-597C535D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255600"/>
            <a:ext cx="6480000" cy="432000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Rechteck 9">
            <a:extLst>
              <a:ext uri="{FF2B5EF4-FFF2-40B4-BE49-F238E27FC236}">
                <a16:creationId xmlns:a16="http://schemas.microsoft.com/office/drawing/2014/main" id="{BC64F559-082D-4C32-A896-BCEE81F8E129}"/>
              </a:ext>
            </a:extLst>
          </p:cNvPr>
          <p:cNvSpPr/>
          <p:nvPr userDrawn="1"/>
        </p:nvSpPr>
        <p:spPr>
          <a:xfrm>
            <a:off x="0" y="478169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3">
            <a:extLst>
              <a:ext uri="{FF2B5EF4-FFF2-40B4-BE49-F238E27FC236}">
                <a16:creationId xmlns:a16="http://schemas.microsoft.com/office/drawing/2014/main" id="{F8D25D59-BC91-4FAF-90C0-C1DEC867E6AE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DA4E479-51B3-4D80-A442-6CDFAC05D8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95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B9658CE-CA94-4DB0-B430-740791A3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255600"/>
            <a:ext cx="6480000" cy="432000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Rechteck 9">
            <a:extLst>
              <a:ext uri="{FF2B5EF4-FFF2-40B4-BE49-F238E27FC236}">
                <a16:creationId xmlns:a16="http://schemas.microsoft.com/office/drawing/2014/main" id="{BEDCFD5B-7EBB-4CD6-ADC5-AEB13E60D3C9}"/>
              </a:ext>
            </a:extLst>
          </p:cNvPr>
          <p:cNvSpPr/>
          <p:nvPr userDrawn="1"/>
        </p:nvSpPr>
        <p:spPr>
          <a:xfrm>
            <a:off x="0" y="478169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E1492E8-9584-48FE-8EC6-C4B33BF75D4E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5BAC9D-5689-45A3-A121-FDD89E8E6B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4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891427B-DBAA-4EA4-9BD8-6A896CC8A20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01236" y="235721"/>
            <a:ext cx="1183989" cy="41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6" r:id="rId3"/>
    <p:sldLayoutId id="2147483673" r:id="rId4"/>
    <p:sldLayoutId id="2147483674" r:id="rId5"/>
    <p:sldLayoutId id="2147483675" r:id="rId6"/>
    <p:sldLayoutId id="2147483676" r:id="rId7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2C8C85-74DD-4517-A6BD-880EB742A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Konzeptueller</a:t>
            </a:r>
            <a:r>
              <a:rPr lang="en-US" dirty="0"/>
              <a:t> </a:t>
            </a:r>
            <a:r>
              <a:rPr lang="en-US" dirty="0" err="1"/>
              <a:t>Entwurf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9794AE-EB27-4746-BF52-6CC94F49EF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Management Foundations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764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404F5A7-D82A-7533-A991-2F40D7F09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Recap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5741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F8830-3A5C-2342-6FCE-D26EA4EF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993FA400-1201-DBFF-D414-86D646A0C096}"/>
              </a:ext>
            </a:extLst>
          </p:cNvPr>
          <p:cNvSpPr txBox="1"/>
          <p:nvPr/>
        </p:nvSpPr>
        <p:spPr>
          <a:xfrm>
            <a:off x="8313420" y="2578248"/>
            <a:ext cx="87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PB-</a:t>
            </a:r>
          </a:p>
          <a:p>
            <a:pPr algn="ctr"/>
            <a:r>
              <a:rPr lang="de-DE" sz="1200" dirty="0"/>
              <a:t>Packages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6C57114-BABF-7560-2D9D-D6E2C842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Details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F2C4B3-6EB8-1545-C5A3-E8D79B662254}"/>
              </a:ext>
            </a:extLst>
          </p:cNvPr>
          <p:cNvSpPr txBox="1">
            <a:spLocks/>
          </p:cNvSpPr>
          <p:nvPr/>
        </p:nvSpPr>
        <p:spPr>
          <a:xfrm>
            <a:off x="753370" y="919163"/>
            <a:ext cx="7637260" cy="37798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tlCol="0" anchor="t"/>
          <a:lstStyle>
            <a:lvl1pPr marL="90488" indent="-90488" algn="l" defTabSz="685800" rtl="0" eaLnBrk="1" latinLnBrk="0" hangingPunct="1">
              <a:lnSpc>
                <a:spcPts val="2200"/>
              </a:lnSpc>
              <a:spcBef>
                <a:spcPts val="750"/>
              </a:spcBef>
              <a:buFont typeface="Muli" panose="00000500000000000000" pitchFamily="2" charset="0"/>
              <a:buChar char=" "/>
              <a:defRPr sz="1500" b="1" i="0" kern="120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▪"/>
              <a:defRPr sz="1300" b="0" kern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Muli" panose="00000500000000000000" pitchFamily="2" charset="0"/>
              <a:buChar char="-"/>
              <a:defRPr sz="1200" b="0" kern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200" dirty="0">
                <a:solidFill>
                  <a:schemeClr val="tx2"/>
                </a:solidFill>
              </a:rPr>
              <a:t>Parser / Optimizer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9A0EE164-360C-C680-A04A-D1DC7165B407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179387" y="2809082"/>
            <a:ext cx="573983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7BC5E3F-47BF-813A-69B3-575218F1C34E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8390630" y="2809080"/>
            <a:ext cx="677170" cy="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F5AC28F6-394F-4CA5-BD54-1940569ADDE5}"/>
              </a:ext>
            </a:extLst>
          </p:cNvPr>
          <p:cNvSpPr txBox="1"/>
          <p:nvPr/>
        </p:nvSpPr>
        <p:spPr>
          <a:xfrm>
            <a:off x="180080" y="2532082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SQL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82C67A9-97CA-78DC-D47A-B3F1CE0C848B}"/>
              </a:ext>
            </a:extLst>
          </p:cNvPr>
          <p:cNvSpPr/>
          <p:nvPr/>
        </p:nvSpPr>
        <p:spPr>
          <a:xfrm>
            <a:off x="753370" y="2095503"/>
            <a:ext cx="1254500" cy="136889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Parser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353B15E-78E1-F791-4EED-9806B5A18653}"/>
              </a:ext>
            </a:extLst>
          </p:cNvPr>
          <p:cNvSpPr/>
          <p:nvPr/>
        </p:nvSpPr>
        <p:spPr>
          <a:xfrm>
            <a:off x="3944750" y="2095502"/>
            <a:ext cx="1254500" cy="136889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Optimizer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4C05201-11DF-3DE8-8833-BB0381390E2E}"/>
              </a:ext>
            </a:extLst>
          </p:cNvPr>
          <p:cNvSpPr/>
          <p:nvPr/>
        </p:nvSpPr>
        <p:spPr>
          <a:xfrm>
            <a:off x="7136130" y="2095503"/>
            <a:ext cx="1254500" cy="136889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/>
                </a:solidFill>
              </a:rPr>
              <a:t>Translation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18740551-2F26-1347-8A25-37D724F11B56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2007870" y="2779951"/>
            <a:ext cx="19368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02D857EE-6DF6-BEF5-9977-7A4938F580AB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5199250" y="2779951"/>
            <a:ext cx="19368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EB554142-4966-4B7B-FEE5-3C99B2E96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9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25" grpId="0" animBg="1"/>
      <p:bldP spid="26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097B-1560-625C-80E4-18CD6242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83310F1-152C-A34D-8F72-BB2003D02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Basic:</a:t>
            </a:r>
          </a:p>
          <a:p>
            <a:pPr lvl="1"/>
            <a:r>
              <a:rPr lang="en-GB" dirty="0"/>
              <a:t>Parsing and translation of an SQL-Query into system-specific PB-Packages</a:t>
            </a:r>
          </a:p>
          <a:p>
            <a:pPr lvl="1"/>
            <a:r>
              <a:rPr lang="en-GB" noProof="0" dirty="0"/>
              <a:t>Translation from Postgres-Plan to PB-Packages</a:t>
            </a:r>
          </a:p>
          <a:p>
            <a:pPr lvl="1"/>
            <a:r>
              <a:rPr lang="en-GB" dirty="0"/>
              <a:t>Multiple Queries at once (multi-threading)</a:t>
            </a:r>
            <a:endParaRPr lang="en-GB" noProof="0" dirty="0"/>
          </a:p>
          <a:p>
            <a:r>
              <a:rPr lang="en-GB" noProof="0" dirty="0"/>
              <a:t>Intermediate:</a:t>
            </a:r>
          </a:p>
          <a:p>
            <a:pPr lvl="1"/>
            <a:r>
              <a:rPr lang="en-GB" dirty="0"/>
              <a:t>Implementation of simple optimizations (e.g., simple Selection-Push-Down)</a:t>
            </a:r>
          </a:p>
          <a:p>
            <a:pPr lvl="1"/>
            <a:r>
              <a:rPr lang="en-GB" noProof="0" dirty="0"/>
              <a:t>Different physical operators are possible</a:t>
            </a:r>
          </a:p>
          <a:p>
            <a:r>
              <a:rPr lang="en-GB" noProof="0" dirty="0"/>
              <a:t>Advanced:</a:t>
            </a:r>
          </a:p>
          <a:p>
            <a:pPr lvl="1"/>
            <a:r>
              <a:rPr lang="en-GB" dirty="0"/>
              <a:t>Creating statistics on queries/created packages</a:t>
            </a:r>
            <a:endParaRPr lang="en-GB" noProof="0" dirty="0"/>
          </a:p>
          <a:p>
            <a:pPr lvl="1"/>
            <a:r>
              <a:rPr lang="en-GB" noProof="0" dirty="0"/>
              <a:t>UES (Explanation when necessary)</a:t>
            </a:r>
          </a:p>
          <a:p>
            <a:pPr lvl="1"/>
            <a:r>
              <a:rPr lang="en-GB" dirty="0"/>
              <a:t>Taking system capabilities into account</a:t>
            </a:r>
            <a:endParaRPr lang="en-GB" noProof="0" dirty="0"/>
          </a:p>
          <a:p>
            <a:pPr lvl="1"/>
            <a:r>
              <a:rPr lang="en-GB" dirty="0"/>
              <a:t>Your own creative ideas…</a:t>
            </a:r>
          </a:p>
          <a:p>
            <a:pPr lvl="1"/>
            <a:endParaRPr lang="en-GB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9F595CB-78BD-51CB-BF99-685A2F9C2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Expectations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1454305-3A1F-456F-9771-DE439EA1E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21" y="2776703"/>
            <a:ext cx="4030579" cy="200346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BEB73E9-5281-DFFD-A137-6A722BE46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6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EEC8E46-2071-B336-7C04-AD72ACFCBB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Zooming</a:t>
            </a:r>
            <a:r>
              <a:rPr lang="de-DE" dirty="0"/>
              <a:t> in</a:t>
            </a:r>
          </a:p>
        </p:txBody>
      </p:sp>
    </p:spTree>
    <p:extLst>
      <p:ext uri="{BB962C8B-B14F-4D97-AF65-F5344CB8AC3E}">
        <p14:creationId xmlns:p14="http://schemas.microsoft.com/office/powerpoint/2010/main" val="4191987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Optimizer</a:t>
            </a:r>
          </a:p>
        </p:txBody>
      </p:sp>
      <p:cxnSp>
        <p:nvCxnSpPr>
          <p:cNvPr id="5" name="Gerade Verbindung 4"/>
          <p:cNvCxnSpPr/>
          <p:nvPr/>
        </p:nvCxnSpPr>
        <p:spPr>
          <a:xfrm flipH="1">
            <a:off x="1261476" y="3144864"/>
            <a:ext cx="6480000" cy="6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hteck 29"/>
          <p:cNvSpPr/>
          <p:nvPr/>
        </p:nvSpPr>
        <p:spPr>
          <a:xfrm>
            <a:off x="1963296" y="1578720"/>
            <a:ext cx="4158000" cy="2538222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2070768" y="2072042"/>
            <a:ext cx="864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Parsing to</a:t>
            </a:r>
            <a:br>
              <a:rPr lang="en-US" sz="10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Logical </a:t>
            </a:r>
            <a:br>
              <a:rPr lang="en-US" sz="10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Query Plan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3096978" y="2072042"/>
            <a:ext cx="864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Access and</a:t>
            </a:r>
            <a:br>
              <a:rPr lang="en-US" sz="10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Integrity</a:t>
            </a:r>
            <a:br>
              <a:rPr lang="en-US" sz="10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Control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1206750" y="2118822"/>
            <a:ext cx="702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Query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6283476" y="2072042"/>
            <a:ext cx="1458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Logical DB Processor/</a:t>
            </a:r>
            <a:br>
              <a:rPr lang="en-US" sz="10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Compile Time System (CTS)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5149110" y="2874864"/>
            <a:ext cx="864000" cy="540000"/>
          </a:xfrm>
          <a:prstGeom prst="rect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6">
                    <a:lumMod val="75000"/>
                  </a:schemeClr>
                </a:solidFill>
              </a:rPr>
              <a:t>Query</a:t>
            </a:r>
            <a:br>
              <a:rPr lang="en-US" sz="105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6">
                    <a:lumMod val="75000"/>
                  </a:schemeClr>
                </a:solidFill>
              </a:rPr>
              <a:t>Execution</a:t>
            </a:r>
            <a:br>
              <a:rPr lang="en-US" sz="105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6">
                    <a:lumMod val="75000"/>
                  </a:schemeClr>
                </a:solidFill>
              </a:rPr>
              <a:t>Plan (QEP)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6283476" y="2874924"/>
            <a:ext cx="1458000" cy="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rIns="27000" rtlCol="0" anchor="ctr">
            <a:noAutofit/>
          </a:bodyPr>
          <a:lstStyle/>
          <a:p>
            <a:pPr algn="r"/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Query Compile Time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2070768" y="3576942"/>
            <a:ext cx="864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Result</a:t>
            </a:r>
            <a:br>
              <a:rPr lang="en-US" sz="10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Provisioning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3096978" y="3572240"/>
            <a:ext cx="864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Execution</a:t>
            </a:r>
            <a:br>
              <a:rPr lang="en-US" sz="10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Control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4122996" y="3576942"/>
            <a:ext cx="864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Code</a:t>
            </a:r>
            <a:br>
              <a:rPr lang="en-US" sz="10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Generation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5149110" y="3576942"/>
            <a:ext cx="864000" cy="540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Plan Para-</a:t>
            </a:r>
            <a:br>
              <a:rPr lang="en-US" sz="10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050" dirty="0" err="1">
                <a:solidFill>
                  <a:schemeClr val="accent4">
                    <a:lumMod val="50000"/>
                  </a:schemeClr>
                </a:solidFill>
              </a:rPr>
              <a:t>meterization</a:t>
            </a:r>
            <a:endParaRPr lang="en-US" sz="10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1206750" y="3630990"/>
            <a:ext cx="702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Result</a:t>
            </a:r>
          </a:p>
        </p:txBody>
      </p:sp>
      <p:sp>
        <p:nvSpPr>
          <p:cNvPr id="21" name="Textfeld 20"/>
          <p:cNvSpPr txBox="1"/>
          <p:nvPr/>
        </p:nvSpPr>
        <p:spPr>
          <a:xfrm>
            <a:off x="6283476" y="3360918"/>
            <a:ext cx="1458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Physical DB Processor/</a:t>
            </a:r>
            <a:br>
              <a:rPr lang="en-US" sz="10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accent4">
                    <a:lumMod val="50000"/>
                  </a:schemeClr>
                </a:solidFill>
              </a:rPr>
              <a:t>Runtime System (RTS)</a:t>
            </a:r>
          </a:p>
        </p:txBody>
      </p:sp>
      <p:sp>
        <p:nvSpPr>
          <p:cNvPr id="22" name="Pfeil nach unten 21"/>
          <p:cNvSpPr/>
          <p:nvPr/>
        </p:nvSpPr>
        <p:spPr>
          <a:xfrm>
            <a:off x="5464169" y="2661405"/>
            <a:ext cx="216000" cy="160736"/>
          </a:xfrm>
          <a:prstGeom prst="downArrow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Pfeil nach unten 22"/>
          <p:cNvSpPr/>
          <p:nvPr/>
        </p:nvSpPr>
        <p:spPr>
          <a:xfrm>
            <a:off x="5464169" y="3470212"/>
            <a:ext cx="216000" cy="160736"/>
          </a:xfrm>
          <a:prstGeom prst="downArrow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Pfeil nach rechts 24"/>
          <p:cNvSpPr/>
          <p:nvPr/>
        </p:nvSpPr>
        <p:spPr>
          <a:xfrm>
            <a:off x="3962260" y="2232777"/>
            <a:ext cx="160736" cy="216000"/>
          </a:xfrm>
          <a:prstGeom prst="rightArrow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Pfeil nach rechts 25"/>
          <p:cNvSpPr/>
          <p:nvPr/>
        </p:nvSpPr>
        <p:spPr>
          <a:xfrm>
            <a:off x="2937429" y="2226816"/>
            <a:ext cx="160736" cy="216000"/>
          </a:xfrm>
          <a:prstGeom prst="rightArrow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Pfeil nach rechts 26"/>
          <p:cNvSpPr/>
          <p:nvPr/>
        </p:nvSpPr>
        <p:spPr>
          <a:xfrm flipH="1">
            <a:off x="4988374" y="3738984"/>
            <a:ext cx="160736" cy="216000"/>
          </a:xfrm>
          <a:prstGeom prst="rightArrow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8" name="Pfeil nach rechts 27"/>
          <p:cNvSpPr/>
          <p:nvPr/>
        </p:nvSpPr>
        <p:spPr>
          <a:xfrm flipH="1">
            <a:off x="3962260" y="3738984"/>
            <a:ext cx="160736" cy="216000"/>
          </a:xfrm>
          <a:prstGeom prst="rightArrow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9" name="Pfeil nach rechts 28"/>
          <p:cNvSpPr/>
          <p:nvPr/>
        </p:nvSpPr>
        <p:spPr>
          <a:xfrm flipH="1">
            <a:off x="2936146" y="3738984"/>
            <a:ext cx="160736" cy="216000"/>
          </a:xfrm>
          <a:prstGeom prst="rightArrow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Geschweifte Klammer rechts 30"/>
          <p:cNvSpPr/>
          <p:nvPr/>
        </p:nvSpPr>
        <p:spPr>
          <a:xfrm>
            <a:off x="6176319" y="1632726"/>
            <a:ext cx="107157" cy="1458000"/>
          </a:xfrm>
          <a:prstGeom prst="rightBrac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Geschweifte Klammer rechts 31"/>
          <p:cNvSpPr/>
          <p:nvPr/>
        </p:nvSpPr>
        <p:spPr>
          <a:xfrm>
            <a:off x="6176319" y="3198900"/>
            <a:ext cx="107157" cy="864000"/>
          </a:xfrm>
          <a:prstGeom prst="rightBrac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35" name="Gerade Verbindung mit Pfeil 34"/>
          <p:cNvCxnSpPr>
            <a:stCxn id="12" idx="2"/>
            <a:endCxn id="20" idx="0"/>
          </p:cNvCxnSpPr>
          <p:nvPr/>
        </p:nvCxnSpPr>
        <p:spPr>
          <a:xfrm>
            <a:off x="1557750" y="2550822"/>
            <a:ext cx="0" cy="108016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Pfeil nach rechts 35"/>
          <p:cNvSpPr/>
          <p:nvPr/>
        </p:nvSpPr>
        <p:spPr>
          <a:xfrm>
            <a:off x="1908750" y="2226816"/>
            <a:ext cx="160736" cy="216000"/>
          </a:xfrm>
          <a:prstGeom prst="rightArrow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Pfeil nach rechts 36"/>
          <p:cNvSpPr/>
          <p:nvPr/>
        </p:nvSpPr>
        <p:spPr>
          <a:xfrm flipH="1">
            <a:off x="1910032" y="3738984"/>
            <a:ext cx="160736" cy="216000"/>
          </a:xfrm>
          <a:prstGeom prst="rightArrow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4122996" y="2072042"/>
            <a:ext cx="864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Logical</a:t>
            </a:r>
            <a:br>
              <a:rPr lang="en-US" sz="10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Plan</a:t>
            </a:r>
            <a:br>
              <a:rPr lang="en-US" sz="10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Rewrite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5149110" y="2064834"/>
            <a:ext cx="864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tIns="0" rIns="2700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Plan</a:t>
            </a:r>
            <a:br>
              <a:rPr lang="en-US" sz="10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Trans-</a:t>
            </a:r>
            <a:br>
              <a:rPr lang="en-US" sz="10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formation</a:t>
            </a:r>
          </a:p>
        </p:txBody>
      </p:sp>
      <p:sp>
        <p:nvSpPr>
          <p:cNvPr id="24" name="Pfeil nach rechts 23"/>
          <p:cNvSpPr/>
          <p:nvPr/>
        </p:nvSpPr>
        <p:spPr>
          <a:xfrm>
            <a:off x="4988374" y="2226816"/>
            <a:ext cx="160736" cy="216000"/>
          </a:xfrm>
          <a:prstGeom prst="rightArrow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3" name="Geschweifte Klammer rechts 32"/>
          <p:cNvSpPr/>
          <p:nvPr/>
        </p:nvSpPr>
        <p:spPr>
          <a:xfrm rot="16200000">
            <a:off x="5041430" y="1154463"/>
            <a:ext cx="107157" cy="1728000"/>
          </a:xfrm>
          <a:prstGeom prst="rightBrac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8" name="Rechteck 37"/>
          <p:cNvSpPr/>
          <p:nvPr/>
        </p:nvSpPr>
        <p:spPr>
          <a:xfrm>
            <a:off x="4177002" y="1686732"/>
            <a:ext cx="1836000" cy="918000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50" dirty="0">
                <a:solidFill>
                  <a:schemeClr val="accent5">
                    <a:lumMod val="75000"/>
                  </a:schemeClr>
                </a:solidFill>
              </a:rPr>
              <a:t>Query Optimization</a:t>
            </a:r>
          </a:p>
        </p:txBody>
      </p:sp>
      <p:sp>
        <p:nvSpPr>
          <p:cNvPr id="39" name="Textfeld 38"/>
          <p:cNvSpPr txBox="1"/>
          <p:nvPr/>
        </p:nvSpPr>
        <p:spPr>
          <a:xfrm>
            <a:off x="6283476" y="3144924"/>
            <a:ext cx="1458000" cy="269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7000" rIns="27000" rtlCol="0" anchor="ctr">
            <a:noAutofit/>
          </a:bodyPr>
          <a:lstStyle/>
          <a:p>
            <a:pPr algn="r"/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Query Runtime</a:t>
            </a:r>
          </a:p>
        </p:txBody>
      </p:sp>
      <p:sp>
        <p:nvSpPr>
          <p:cNvPr id="45" name="Textfeld 44"/>
          <p:cNvSpPr txBox="1"/>
          <p:nvPr/>
        </p:nvSpPr>
        <p:spPr>
          <a:xfrm>
            <a:off x="1986985" y="2874864"/>
            <a:ext cx="256801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latin typeface="+mj-lt"/>
              </a:rPr>
              <a:t>Query Processor</a:t>
            </a:r>
            <a:endParaRPr lang="en-US" sz="2400" dirty="0">
              <a:solidFill>
                <a:srgbClr val="55555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1181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6" grpId="0" animBg="1"/>
      <p:bldP spid="37" grpId="0" animBg="1"/>
      <p:bldP spid="10" grpId="0"/>
      <p:bldP spid="11" grpId="0"/>
      <p:bldP spid="24" grpId="0" animBg="1"/>
      <p:bldP spid="33" grpId="0" animBg="1"/>
      <p:bldP spid="38" grpId="0" animBg="1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don’t use a standard optimizer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Row store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buFont typeface=".AppleSystemUIFont" charset="-120"/>
              <a:buChar char="+"/>
            </a:pPr>
            <a:r>
              <a:rPr lang="en-US" dirty="0">
                <a:solidFill>
                  <a:srgbClr val="555555"/>
                </a:solidFill>
              </a:rPr>
              <a:t>Easy to add/modify a record</a:t>
            </a:r>
          </a:p>
          <a:p>
            <a:pPr lvl="1">
              <a:buFont typeface=".AppleSystemUIFont" charset="-120"/>
              <a:buChar char="-"/>
            </a:pPr>
            <a:r>
              <a:rPr lang="en-US" dirty="0"/>
              <a:t>Even if only a few attributes value are needed, all attributes values have to be read </a:t>
            </a:r>
            <a:br>
              <a:rPr lang="en-US" dirty="0"/>
            </a:br>
            <a:r>
              <a:rPr lang="en-US" dirty="0">
                <a:sym typeface="Wingdings"/>
              </a:rPr>
              <a:t> unnecessary IO-cost</a:t>
            </a:r>
          </a:p>
          <a:p>
            <a:pPr lvl="1">
              <a:buFont typeface=".AppleSystemUIFont" charset="-120"/>
              <a:buChar char="-"/>
            </a:pPr>
            <a:r>
              <a:rPr lang="en-US" dirty="0">
                <a:solidFill>
                  <a:srgbClr val="555555"/>
                </a:solidFill>
                <a:sym typeface="Wingdings"/>
              </a:rPr>
              <a:t>Compression is hard since consecutive values are from different domains (e.g. name, age, street </a:t>
            </a:r>
            <a:r>
              <a:rPr lang="en-US" dirty="0" err="1">
                <a:solidFill>
                  <a:srgbClr val="555555"/>
                </a:solidFill>
                <a:sym typeface="Wingdings"/>
              </a:rPr>
              <a:t>addr</a:t>
            </a:r>
            <a:r>
              <a:rPr lang="en-US" dirty="0">
                <a:solidFill>
                  <a:srgbClr val="555555"/>
                </a:solidFill>
                <a:sym typeface="Wingdings"/>
              </a:rPr>
              <a:t>, zip code, etc.)</a:t>
            </a:r>
            <a:endParaRPr lang="en-US" dirty="0">
              <a:solidFill>
                <a:srgbClr val="555555"/>
              </a:solidFill>
            </a:endParaRPr>
          </a:p>
          <a:p>
            <a:endParaRPr lang="en-US" dirty="0"/>
          </a:p>
        </p:txBody>
      </p:sp>
      <p:sp>
        <p:nvSpPr>
          <p:cNvPr id="5" name="Inhaltsplatzhalt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Column store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buFont typeface=".AppleSystemUIFont" charset="-120"/>
              <a:buChar char="+"/>
            </a:pPr>
            <a:r>
              <a:rPr lang="en-US" dirty="0">
                <a:solidFill>
                  <a:srgbClr val="555555"/>
                </a:solidFill>
              </a:rPr>
              <a:t>Only need to read in relevant data, more efficient scan operators</a:t>
            </a:r>
          </a:p>
          <a:p>
            <a:pPr lvl="1">
              <a:buFont typeface=".AppleSystemUIFont" charset="-120"/>
              <a:buChar char="+"/>
            </a:pPr>
            <a:r>
              <a:rPr lang="en-US" dirty="0">
                <a:solidFill>
                  <a:srgbClr val="555555"/>
                </a:solidFill>
              </a:rPr>
              <a:t>Compression easily possible (for example run length encoding)</a:t>
            </a:r>
          </a:p>
          <a:p>
            <a:pPr lvl="1">
              <a:buFont typeface=".AppleSystemUIFont" charset="-120"/>
              <a:buChar char="-"/>
            </a:pPr>
            <a:r>
              <a:rPr lang="en-US" dirty="0">
                <a:solidFill>
                  <a:srgbClr val="555555"/>
                </a:solidFill>
              </a:rPr>
              <a:t>tuple writes require multiple accesses</a:t>
            </a:r>
          </a:p>
          <a:p>
            <a:pPr lvl="1">
              <a:buFont typeface=".AppleSystemUIFont" charset="-120"/>
              <a:buChar char="-"/>
            </a:pPr>
            <a:r>
              <a:rPr lang="en-US" dirty="0">
                <a:solidFill>
                  <a:srgbClr val="555555"/>
                </a:solidFill>
              </a:rPr>
              <a:t>Reading all columns of a single row requires expensive row-reconstruction (1:1 join)</a:t>
            </a:r>
          </a:p>
        </p:txBody>
      </p:sp>
      <p:pic>
        <p:nvPicPr>
          <p:cNvPr id="38913" name="Picture 1"/>
          <p:cNvPicPr>
            <a:picLocks noChangeAspect="1" noChangeArrowheads="1"/>
          </p:cNvPicPr>
          <p:nvPr/>
        </p:nvPicPr>
        <p:blipFill rotWithShape="1">
          <a:blip r:embed="rId3" cstate="print"/>
          <a:srcRect t="21572"/>
          <a:stretch/>
        </p:blipFill>
        <p:spPr bwMode="auto">
          <a:xfrm>
            <a:off x="1107208" y="1400433"/>
            <a:ext cx="2393584" cy="1386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4" cstate="print"/>
          <a:srcRect t="17698"/>
          <a:stretch/>
        </p:blipFill>
        <p:spPr bwMode="auto">
          <a:xfrm>
            <a:off x="5464851" y="1400433"/>
            <a:ext cx="2750298" cy="1543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33331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73EF73-69FA-FAD7-4051-71C78F9E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SSB</a:t>
            </a:r>
          </a:p>
        </p:txBody>
      </p:sp>
      <p:pic>
        <p:nvPicPr>
          <p:cNvPr id="1026" name="Picture 2" descr="The Star Schema Benchmark (SSB) data model">
            <a:extLst>
              <a:ext uri="{FF2B5EF4-FFF2-40B4-BE49-F238E27FC236}">
                <a16:creationId xmlns:a16="http://schemas.microsoft.com/office/drawing/2014/main" id="{827D7FDA-E767-3DBC-0F2A-259D68C59D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733" y="471600"/>
            <a:ext cx="4686533" cy="408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481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50E1EDCC-2723-34A5-882D-7F1E79141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581"/>
          <a:stretch>
            <a:fillRect/>
          </a:stretch>
        </p:blipFill>
        <p:spPr>
          <a:xfrm>
            <a:off x="224116" y="1403151"/>
            <a:ext cx="4789042" cy="2337198"/>
          </a:xfrm>
          <a:prstGeom prst="rect">
            <a:avLst/>
          </a:prstGeom>
          <a:ln>
            <a:noFill/>
          </a:ln>
        </p:spPr>
      </p:pic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A5907F7F-0129-BA37-258A-52F95B6DE3CC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0836" y="918992"/>
            <a:ext cx="2798328" cy="3780000"/>
          </a:xfrm>
        </p:spPr>
      </p:pic>
      <p:sp>
        <p:nvSpPr>
          <p:cNvPr id="15" name="Title 3">
            <a:extLst>
              <a:ext uri="{FF2B5EF4-FFF2-40B4-BE49-F238E27FC236}">
                <a16:creationId xmlns:a16="http://schemas.microsoft.com/office/drawing/2014/main" id="{B52AF51A-E355-1A2B-59F2-8BC6A4AE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255600"/>
            <a:ext cx="6480000" cy="432000"/>
          </a:xfrm>
        </p:spPr>
        <p:txBody>
          <a:bodyPr/>
          <a:lstStyle/>
          <a:p>
            <a:r>
              <a:rPr lang="en-US" dirty="0"/>
              <a:t>Why we don’t use a standard optimizer…</a:t>
            </a:r>
          </a:p>
        </p:txBody>
      </p:sp>
    </p:spTree>
    <p:extLst>
      <p:ext uri="{BB962C8B-B14F-4D97-AF65-F5344CB8AC3E}">
        <p14:creationId xmlns:p14="http://schemas.microsoft.com/office/powerpoint/2010/main" val="177301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8813C99-9FC5-3BDC-05A8-55579D8C4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0" y="3489836"/>
            <a:ext cx="7617519" cy="832726"/>
          </a:xfrm>
        </p:spPr>
        <p:txBody>
          <a:bodyPr/>
          <a:lstStyle/>
          <a:p>
            <a:r>
              <a:rPr lang="en-US" dirty="0"/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3204525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A98CD06D-F1F6-731F-4F34-72A1BBEB5D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068844"/>
              </p:ext>
            </p:extLst>
          </p:nvPr>
        </p:nvGraphicFramePr>
        <p:xfrm>
          <a:off x="733453" y="687600"/>
          <a:ext cx="1160128" cy="407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0128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s_region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AMERICA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EUROPE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AUSTRALIA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EUROPE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AMERICA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AMERICA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1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EUROPE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9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64896"/>
                  </a:ext>
                </a:extLst>
              </a:tr>
            </a:tbl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407D8C7A-D78A-6FB4-BCB9-8027A5EB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Position List</a:t>
            </a:r>
          </a:p>
        </p:txBody>
      </p:sp>
      <p:graphicFrame>
        <p:nvGraphicFramePr>
          <p:cNvPr id="6" name="Inhaltsplatzhalter 4">
            <a:extLst>
              <a:ext uri="{FF2B5EF4-FFF2-40B4-BE49-F238E27FC236}">
                <a16:creationId xmlns:a16="http://schemas.microsoft.com/office/drawing/2014/main" id="{8233D803-0D6F-3918-5BDB-B19182B1B9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5374539"/>
              </p:ext>
            </p:extLst>
          </p:nvPr>
        </p:nvGraphicFramePr>
        <p:xfrm>
          <a:off x="7250419" y="1830070"/>
          <a:ext cx="1160128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0128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</a:tbl>
          </a:graphicData>
        </a:graphic>
      </p:graphicFrame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7D4AA249-FBB8-7035-3A7B-DB2E5C6DA40A}"/>
              </a:ext>
            </a:extLst>
          </p:cNvPr>
          <p:cNvGrpSpPr/>
          <p:nvPr/>
        </p:nvGrpSpPr>
        <p:grpSpPr>
          <a:xfrm>
            <a:off x="3978782" y="2114549"/>
            <a:ext cx="1259306" cy="914400"/>
            <a:chOff x="2954703" y="2249967"/>
            <a:chExt cx="1259306" cy="914400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9424ED0B-F8BE-6B67-2153-F288DAA2027C}"/>
                </a:ext>
              </a:extLst>
            </p:cNvPr>
            <p:cNvSpPr/>
            <p:nvPr/>
          </p:nvSpPr>
          <p:spPr>
            <a:xfrm>
              <a:off x="2954703" y="2249967"/>
              <a:ext cx="1259306" cy="914400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dirty="0"/>
                <a:t>FILTER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9AA689F9-E30A-34B2-717B-320A6267D500}"/>
                </a:ext>
              </a:extLst>
            </p:cNvPr>
            <p:cNvSpPr txBox="1"/>
            <p:nvPr/>
          </p:nvSpPr>
          <p:spPr>
            <a:xfrm>
              <a:off x="3035968" y="2660910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chemeClr val="bg1"/>
                  </a:solidFill>
                </a:rPr>
                <a:t>= „AMERICA“</a:t>
              </a:r>
            </a:p>
          </p:txBody>
        </p:sp>
      </p:grpSp>
      <p:sp>
        <p:nvSpPr>
          <p:cNvPr id="9" name="Textfeld 7">
            <a:extLst>
              <a:ext uri="{FF2B5EF4-FFF2-40B4-BE49-F238E27FC236}">
                <a16:creationId xmlns:a16="http://schemas.microsoft.com/office/drawing/2014/main" id="{8FCF46F1-F7AD-7006-1488-1216C2E76412}"/>
              </a:ext>
            </a:extLst>
          </p:cNvPr>
          <p:cNvSpPr txBox="1"/>
          <p:nvPr/>
        </p:nvSpPr>
        <p:spPr>
          <a:xfrm>
            <a:off x="2752263" y="2340826"/>
            <a:ext cx="367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&amp;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37C2235-36A5-3493-3DAE-99AA7A895813}"/>
              </a:ext>
            </a:extLst>
          </p:cNvPr>
          <p:cNvSpPr txBox="1"/>
          <p:nvPr/>
        </p:nvSpPr>
        <p:spPr>
          <a:xfrm>
            <a:off x="6078552" y="2340917"/>
            <a:ext cx="294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0321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E6556-2DE0-7A73-6CE6-B84FBC42E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3015B8A3-D2D2-D377-FC1E-82E7CA30EC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3453" y="687600"/>
          <a:ext cx="1160128" cy="407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0128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s_region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AMERICA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EUROPE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AUSTRALIA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EUROPE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AMERICA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AMERICA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1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EUROPE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9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64896"/>
                  </a:ext>
                </a:extLst>
              </a:tr>
            </a:tbl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41A09F16-DE82-67F8-2EB9-1FA3A699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Bitmap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75A0886-9213-2F58-7798-C034522D2C83}"/>
              </a:ext>
            </a:extLst>
          </p:cNvPr>
          <p:cNvGrpSpPr/>
          <p:nvPr/>
        </p:nvGrpSpPr>
        <p:grpSpPr>
          <a:xfrm>
            <a:off x="3978782" y="2114549"/>
            <a:ext cx="1259306" cy="914400"/>
            <a:chOff x="2954703" y="2249967"/>
            <a:chExt cx="1259306" cy="914400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A542EFDF-0E79-9246-5880-77D939F9DDC6}"/>
                </a:ext>
              </a:extLst>
            </p:cNvPr>
            <p:cNvSpPr/>
            <p:nvPr/>
          </p:nvSpPr>
          <p:spPr>
            <a:xfrm>
              <a:off x="2954703" y="2249967"/>
              <a:ext cx="1259306" cy="914400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dirty="0"/>
                <a:t>FILTER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52B06AFB-4C61-7D84-935D-6F15162AE4B6}"/>
                </a:ext>
              </a:extLst>
            </p:cNvPr>
            <p:cNvSpPr txBox="1"/>
            <p:nvPr/>
          </p:nvSpPr>
          <p:spPr>
            <a:xfrm>
              <a:off x="3035968" y="2660910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chemeClr val="bg1"/>
                  </a:solidFill>
                </a:rPr>
                <a:t>= „AMERICA“</a:t>
              </a:r>
            </a:p>
          </p:txBody>
        </p:sp>
      </p:grpSp>
      <p:sp>
        <p:nvSpPr>
          <p:cNvPr id="9" name="Textfeld 7">
            <a:extLst>
              <a:ext uri="{FF2B5EF4-FFF2-40B4-BE49-F238E27FC236}">
                <a16:creationId xmlns:a16="http://schemas.microsoft.com/office/drawing/2014/main" id="{7C6BFEDB-E18E-79EC-AAFE-749094BEFADF}"/>
              </a:ext>
            </a:extLst>
          </p:cNvPr>
          <p:cNvSpPr txBox="1"/>
          <p:nvPr/>
        </p:nvSpPr>
        <p:spPr>
          <a:xfrm>
            <a:off x="2752263" y="2340826"/>
            <a:ext cx="367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&amp;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6F2C049-33D9-0530-5087-C71B43A39A67}"/>
              </a:ext>
            </a:extLst>
          </p:cNvPr>
          <p:cNvSpPr txBox="1"/>
          <p:nvPr/>
        </p:nvSpPr>
        <p:spPr>
          <a:xfrm>
            <a:off x="6078552" y="2340917"/>
            <a:ext cx="294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=</a:t>
            </a:r>
          </a:p>
        </p:txBody>
      </p:sp>
      <p:graphicFrame>
        <p:nvGraphicFramePr>
          <p:cNvPr id="2" name="Inhaltsplatzhalter 4">
            <a:extLst>
              <a:ext uri="{FF2B5EF4-FFF2-40B4-BE49-F238E27FC236}">
                <a16:creationId xmlns:a16="http://schemas.microsoft.com/office/drawing/2014/main" id="{80F4B89D-32A7-933D-E3E1-1BCBA2A04E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7608160"/>
              </p:ext>
            </p:extLst>
          </p:nvPr>
        </p:nvGraphicFramePr>
        <p:xfrm>
          <a:off x="7323289" y="687600"/>
          <a:ext cx="1160128" cy="407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0128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Bitmap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1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9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64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32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4552B106-DFA8-7F12-9D47-BBE55A4694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5496"/>
              </p:ext>
            </p:extLst>
          </p:nvPr>
        </p:nvGraphicFramePr>
        <p:xfrm>
          <a:off x="179388" y="919163"/>
          <a:ext cx="8785224" cy="3337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28408">
                  <a:extLst>
                    <a:ext uri="{9D8B030D-6E8A-4147-A177-3AD203B41FA5}">
                      <a16:colId xmlns:a16="http://schemas.microsoft.com/office/drawing/2014/main" val="1009666201"/>
                    </a:ext>
                  </a:extLst>
                </a:gridCol>
                <a:gridCol w="2928408">
                  <a:extLst>
                    <a:ext uri="{9D8B030D-6E8A-4147-A177-3AD203B41FA5}">
                      <a16:colId xmlns:a16="http://schemas.microsoft.com/office/drawing/2014/main" val="2947094706"/>
                    </a:ext>
                  </a:extLst>
                </a:gridCol>
                <a:gridCol w="2928408">
                  <a:extLst>
                    <a:ext uri="{9D8B030D-6E8A-4147-A177-3AD203B41FA5}">
                      <a16:colId xmlns:a16="http://schemas.microsoft.com/office/drawing/2014/main" val="270908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71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(Base)</a:t>
                      </a:r>
                      <a:r>
                        <a:rPr lang="de-DE" dirty="0" err="1"/>
                        <a:t>Column</a:t>
                      </a:r>
                      <a:r>
                        <a:rPr lang="de-DE" dirty="0"/>
                        <a:t> + Type + 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 / Bitmap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008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Materialize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(Base)</a:t>
                      </a:r>
                      <a:r>
                        <a:rPr lang="de-DE" dirty="0" err="1"/>
                        <a:t>Column</a:t>
                      </a:r>
                      <a:r>
                        <a:rPr lang="de-DE" dirty="0"/>
                        <a:t> + </a:t>
                      </a:r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 / Bitmap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Column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537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Set (Union/</a:t>
                      </a:r>
                      <a:r>
                        <a:rPr lang="de-DE" dirty="0" err="1"/>
                        <a:t>Intersect</a:t>
                      </a:r>
                      <a:r>
                        <a:rPr lang="de-D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 / Bitmap 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 / Bitmap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171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Join</a:t>
                      </a:r>
                      <a:r>
                        <a:rPr lang="de-DE" dirty="0"/>
                        <a:t> (Hash)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(Base)</a:t>
                      </a:r>
                      <a:r>
                        <a:rPr lang="de-DE" dirty="0" err="1"/>
                        <a:t>Column</a:t>
                      </a:r>
                      <a:r>
                        <a:rPr lang="de-DE" dirty="0"/>
                        <a:t> I + (Base)</a:t>
                      </a:r>
                      <a:r>
                        <a:rPr lang="de-DE" dirty="0" err="1"/>
                        <a:t>Column</a:t>
                      </a:r>
                      <a:r>
                        <a:rPr lang="de-DE" dirty="0"/>
                        <a:t> 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 I + </a:t>
                      </a:r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 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94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Group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Column</a:t>
                      </a:r>
                      <a:r>
                        <a:rPr lang="de-DE" dirty="0"/>
                        <a:t>(s) + Aggregation +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Sort</a:t>
                      </a:r>
                      <a:r>
                        <a:rPr lang="de-DE" dirty="0"/>
                        <a:t> (Order By)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Column</a:t>
                      </a:r>
                      <a:r>
                        <a:rPr lang="de-DE" dirty="0"/>
                        <a:t>(s) +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833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Aggregate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Column</a:t>
                      </a:r>
                      <a:r>
                        <a:rPr lang="de-DE" dirty="0"/>
                        <a:t> + </a:t>
                      </a:r>
                      <a:r>
                        <a:rPr lang="de-DE" dirty="0" err="1"/>
                        <a:t>Func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Column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03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Map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(</a:t>
                      </a:r>
                      <a:r>
                        <a:rPr lang="de-DE" dirty="0" err="1"/>
                        <a:t>Column</a:t>
                      </a:r>
                      <a:r>
                        <a:rPr lang="de-DE" dirty="0"/>
                        <a:t> + </a:t>
                      </a:r>
                      <a:r>
                        <a:rPr lang="de-DE" dirty="0" err="1"/>
                        <a:t>Column</a:t>
                      </a:r>
                      <a:r>
                        <a:rPr lang="de-DE" dirty="0"/>
                        <a:t> / Val) + </a:t>
                      </a:r>
                      <a:r>
                        <a:rPr lang="de-DE" dirty="0" err="1"/>
                        <a:t>Func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Column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924674"/>
                  </a:ext>
                </a:extLst>
              </a:tr>
            </a:tbl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6C481231-B9C6-59BB-B03B-3509AA20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Operator </a:t>
            </a:r>
            <a:r>
              <a:rPr lang="de-DE" dirty="0" err="1"/>
              <a:t>Overview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AAFABF5-D67C-3D3D-28EF-031D7C75D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7" y="3890209"/>
            <a:ext cx="8887306" cy="83702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35841B6-FC39-E418-BA34-45FF22F6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7" y="3521242"/>
            <a:ext cx="8887306" cy="120599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560BD7A-9E14-7CD3-1873-D024DA5A0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3144254"/>
            <a:ext cx="8887306" cy="158298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8AC083A-C7FA-EF57-E24A-90A7B0215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7" y="2763253"/>
            <a:ext cx="8887306" cy="191198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253A994-A897-C787-7A31-7BFA79C12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7" y="2402303"/>
            <a:ext cx="8887306" cy="83702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742BD15-BBE5-E586-3EF9-9834A9EBC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7" y="2025315"/>
            <a:ext cx="8887306" cy="83702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06D178C-9245-3D6F-DE0B-33EF6E228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7" y="1648327"/>
            <a:ext cx="8887306" cy="83702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49C08A8-FA19-3022-9259-EEE49C01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7" y="1255812"/>
            <a:ext cx="8887306" cy="83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2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DFA7757-C903-E50B-6336-A1F3FF98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</a:t>
            </a:r>
          </a:p>
        </p:txBody>
      </p:sp>
      <p:graphicFrame>
        <p:nvGraphicFramePr>
          <p:cNvPr id="4" name="Inhaltsplatzhalter 4">
            <a:extLst>
              <a:ext uri="{FF2B5EF4-FFF2-40B4-BE49-F238E27FC236}">
                <a16:creationId xmlns:a16="http://schemas.microsoft.com/office/drawing/2014/main" id="{D826EB69-E18E-E211-607D-C41CAE67B1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6026340"/>
              </p:ext>
            </p:extLst>
          </p:nvPr>
        </p:nvGraphicFramePr>
        <p:xfrm>
          <a:off x="4995396" y="687600"/>
          <a:ext cx="923575" cy="407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3575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Bitmap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1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9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64896"/>
                  </a:ext>
                </a:extLst>
              </a:tr>
            </a:tbl>
          </a:graphicData>
        </a:graphic>
      </p:graphicFrame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339A6BDA-30D4-1786-EED2-F0284376E4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828765"/>
              </p:ext>
            </p:extLst>
          </p:nvPr>
        </p:nvGraphicFramePr>
        <p:xfrm>
          <a:off x="6520024" y="687600"/>
          <a:ext cx="923576" cy="407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3576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Bitmap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1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9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64896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622BA725-923B-EC20-51C9-2D476753EDF9}"/>
              </a:ext>
            </a:extLst>
          </p:cNvPr>
          <p:cNvSpPr txBox="1"/>
          <p:nvPr/>
        </p:nvSpPr>
        <p:spPr>
          <a:xfrm>
            <a:off x="6032212" y="2368952"/>
            <a:ext cx="336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0" i="0" dirty="0">
                <a:solidFill>
                  <a:schemeClr val="tx2"/>
                </a:solidFill>
                <a:effectLst/>
                <a:latin typeface="+mj-lt"/>
              </a:rPr>
              <a:t>∩</a:t>
            </a:r>
            <a:endParaRPr lang="de-DE" sz="20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3BB7901-B1C9-6E15-EAB4-D56BBAC55AC8}"/>
              </a:ext>
            </a:extLst>
          </p:cNvPr>
          <p:cNvSpPr txBox="1"/>
          <p:nvPr/>
        </p:nvSpPr>
        <p:spPr>
          <a:xfrm>
            <a:off x="7574912" y="2340917"/>
            <a:ext cx="339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=</a:t>
            </a:r>
          </a:p>
        </p:txBody>
      </p:sp>
      <p:graphicFrame>
        <p:nvGraphicFramePr>
          <p:cNvPr id="10" name="Inhaltsplatzhalter 4">
            <a:extLst>
              <a:ext uri="{FF2B5EF4-FFF2-40B4-BE49-F238E27FC236}">
                <a16:creationId xmlns:a16="http://schemas.microsoft.com/office/drawing/2014/main" id="{F2AA95F0-97C9-542E-1402-10ABE9F623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0924762"/>
              </p:ext>
            </p:extLst>
          </p:nvPr>
        </p:nvGraphicFramePr>
        <p:xfrm>
          <a:off x="8040423" y="687600"/>
          <a:ext cx="923577" cy="407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3577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Bitmap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1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9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64896"/>
                  </a:ext>
                </a:extLst>
              </a:tr>
            </a:tbl>
          </a:graphicData>
        </a:graphic>
      </p:graphicFrame>
      <p:graphicFrame>
        <p:nvGraphicFramePr>
          <p:cNvPr id="11" name="Inhaltsplatzhalter 4">
            <a:extLst>
              <a:ext uri="{FF2B5EF4-FFF2-40B4-BE49-F238E27FC236}">
                <a16:creationId xmlns:a16="http://schemas.microsoft.com/office/drawing/2014/main" id="{2B92F7F6-EA38-C28F-13BE-80F20016A1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8697319"/>
              </p:ext>
            </p:extLst>
          </p:nvPr>
        </p:nvGraphicFramePr>
        <p:xfrm>
          <a:off x="180000" y="1830069"/>
          <a:ext cx="923575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3575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</a:tbl>
          </a:graphicData>
        </a:graphic>
      </p:graphicFrame>
      <p:graphicFrame>
        <p:nvGraphicFramePr>
          <p:cNvPr id="12" name="Inhaltsplatzhalter 4">
            <a:extLst>
              <a:ext uri="{FF2B5EF4-FFF2-40B4-BE49-F238E27FC236}">
                <a16:creationId xmlns:a16="http://schemas.microsoft.com/office/drawing/2014/main" id="{FA206BD5-5C89-EDAB-C74F-8A17A1E67C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1404"/>
              </p:ext>
            </p:extLst>
          </p:nvPr>
        </p:nvGraphicFramePr>
        <p:xfrm>
          <a:off x="1666941" y="1827327"/>
          <a:ext cx="923575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3575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</a:tbl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44E2C48D-8127-7956-AD49-4F07E0F43ED5}"/>
              </a:ext>
            </a:extLst>
          </p:cNvPr>
          <p:cNvSpPr txBox="1"/>
          <p:nvPr/>
        </p:nvSpPr>
        <p:spPr>
          <a:xfrm>
            <a:off x="1216816" y="2368952"/>
            <a:ext cx="336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0" i="0" dirty="0">
                <a:solidFill>
                  <a:schemeClr val="tx2"/>
                </a:solidFill>
                <a:effectLst/>
                <a:latin typeface="+mj-lt"/>
              </a:rPr>
              <a:t>∪</a:t>
            </a:r>
            <a:endParaRPr lang="de-DE" sz="20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519E484-740C-AAFD-F304-7C7ACA3A8D6F}"/>
              </a:ext>
            </a:extLst>
          </p:cNvPr>
          <p:cNvSpPr txBox="1"/>
          <p:nvPr/>
        </p:nvSpPr>
        <p:spPr>
          <a:xfrm>
            <a:off x="2703757" y="2338174"/>
            <a:ext cx="294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=</a:t>
            </a:r>
          </a:p>
        </p:txBody>
      </p:sp>
      <p:graphicFrame>
        <p:nvGraphicFramePr>
          <p:cNvPr id="15" name="Inhaltsplatzhalter 4">
            <a:extLst>
              <a:ext uri="{FF2B5EF4-FFF2-40B4-BE49-F238E27FC236}">
                <a16:creationId xmlns:a16="http://schemas.microsoft.com/office/drawing/2014/main" id="{E41C7579-919A-8E09-B24A-B5B84E46E8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3259005"/>
              </p:ext>
            </p:extLst>
          </p:nvPr>
        </p:nvGraphicFramePr>
        <p:xfrm>
          <a:off x="3111965" y="1459230"/>
          <a:ext cx="923575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3575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086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497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67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4F6A221-C7FF-5DBA-32BA-67FD1D930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Join</a:t>
            </a:r>
            <a:endParaRPr lang="de-DE" dirty="0"/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6F91B941-91BC-4BD4-B76C-94103456F2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5801517"/>
              </p:ext>
            </p:extLst>
          </p:nvPr>
        </p:nvGraphicFramePr>
        <p:xfrm>
          <a:off x="733453" y="687600"/>
          <a:ext cx="1160128" cy="407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0128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lo_partkey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1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9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64896"/>
                  </a:ext>
                </a:extLst>
              </a:tr>
            </a:tbl>
          </a:graphicData>
        </a:graphic>
      </p:graphicFrame>
      <p:graphicFrame>
        <p:nvGraphicFramePr>
          <p:cNvPr id="6" name="Inhaltsplatzhalter 4">
            <a:extLst>
              <a:ext uri="{FF2B5EF4-FFF2-40B4-BE49-F238E27FC236}">
                <a16:creationId xmlns:a16="http://schemas.microsoft.com/office/drawing/2014/main" id="{B2171F28-E23B-137E-C1FD-33E0CA2B7E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543618"/>
              </p:ext>
            </p:extLst>
          </p:nvPr>
        </p:nvGraphicFramePr>
        <p:xfrm>
          <a:off x="2839936" y="1060240"/>
          <a:ext cx="1160128" cy="3337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0128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p_partkey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14732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2E276343-0F94-BDA7-2553-14096D06E4B4}"/>
              </a:ext>
            </a:extLst>
          </p:cNvPr>
          <p:cNvSpPr txBox="1"/>
          <p:nvPr/>
        </p:nvSpPr>
        <p:spPr>
          <a:xfrm>
            <a:off x="2176532" y="2371695"/>
            <a:ext cx="380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0" i="0" dirty="0">
                <a:solidFill>
                  <a:schemeClr val="tx2"/>
                </a:solidFill>
                <a:effectLst/>
                <a:latin typeface="+mj-lt"/>
              </a:rPr>
              <a:t>⋈</a:t>
            </a:r>
            <a:endParaRPr lang="de-DE" sz="20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6BE1841-04E2-D28E-9E65-5C81292D612B}"/>
              </a:ext>
            </a:extLst>
          </p:cNvPr>
          <p:cNvSpPr txBox="1"/>
          <p:nvPr/>
        </p:nvSpPr>
        <p:spPr>
          <a:xfrm>
            <a:off x="4283016" y="2371695"/>
            <a:ext cx="336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tx2"/>
                </a:solidFill>
                <a:latin typeface="+mj-lt"/>
              </a:rPr>
              <a:t>=</a:t>
            </a:r>
          </a:p>
        </p:txBody>
      </p:sp>
      <p:graphicFrame>
        <p:nvGraphicFramePr>
          <p:cNvPr id="9" name="Inhaltsplatzhalter 4">
            <a:extLst>
              <a:ext uri="{FF2B5EF4-FFF2-40B4-BE49-F238E27FC236}">
                <a16:creationId xmlns:a16="http://schemas.microsoft.com/office/drawing/2014/main" id="{6E0CF463-C075-5404-823C-E2A5E4828F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0919561"/>
              </p:ext>
            </p:extLst>
          </p:nvPr>
        </p:nvGraphicFramePr>
        <p:xfrm>
          <a:off x="6965768" y="1240446"/>
          <a:ext cx="1160128" cy="296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0128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 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</a:tbl>
          </a:graphicData>
        </a:graphic>
      </p:graphicFrame>
      <p:graphicFrame>
        <p:nvGraphicFramePr>
          <p:cNvPr id="10" name="Inhaltsplatzhalter 4">
            <a:extLst>
              <a:ext uri="{FF2B5EF4-FFF2-40B4-BE49-F238E27FC236}">
                <a16:creationId xmlns:a16="http://schemas.microsoft.com/office/drawing/2014/main" id="{91EDAB63-5AD4-EFDC-F006-34F990901F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0818907"/>
              </p:ext>
            </p:extLst>
          </p:nvPr>
        </p:nvGraphicFramePr>
        <p:xfrm>
          <a:off x="4902852" y="1243860"/>
          <a:ext cx="1160128" cy="296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0128">
                  <a:extLst>
                    <a:ext uri="{9D8B030D-6E8A-4147-A177-3AD203B41FA5}">
                      <a16:colId xmlns:a16="http://schemas.microsoft.com/office/drawing/2014/main" val="141465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pos_list</a:t>
                      </a:r>
                      <a:r>
                        <a:rPr lang="de-DE" dirty="0"/>
                        <a:t> 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7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3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5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0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7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6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05944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2F09203-4CD0-D5D6-8F3B-C1475699805E}"/>
              </a:ext>
            </a:extLst>
          </p:cNvPr>
          <p:cNvSpPr txBox="1"/>
          <p:nvPr/>
        </p:nvSpPr>
        <p:spPr>
          <a:xfrm>
            <a:off x="6402719" y="2371695"/>
            <a:ext cx="2233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tx2"/>
                </a:solidFill>
                <a:latin typeface="+mj-lt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76994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6A13BCB-0E06-F048-82D6-441AE4DE0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0" y="3489836"/>
            <a:ext cx="7617519" cy="832726"/>
          </a:xfrm>
        </p:spPr>
        <p:txBody>
          <a:bodyPr/>
          <a:lstStyle/>
          <a:p>
            <a:r>
              <a:rPr lang="en-US" dirty="0"/>
              <a:t>Our System</a:t>
            </a:r>
          </a:p>
        </p:txBody>
      </p:sp>
    </p:spTree>
    <p:extLst>
      <p:ext uri="{BB962C8B-B14F-4D97-AF65-F5344CB8AC3E}">
        <p14:creationId xmlns:p14="http://schemas.microsoft.com/office/powerpoint/2010/main" val="2923184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06F0159-E294-D4D9-64D0-C539441A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Going</a:t>
            </a:r>
            <a:r>
              <a:rPr lang="de-DE" dirty="0"/>
              <a:t> back </a:t>
            </a:r>
            <a:r>
              <a:rPr lang="de-DE" dirty="0" err="1"/>
              <a:t>to</a:t>
            </a:r>
            <a:r>
              <a:rPr lang="de-DE" dirty="0"/>
              <a:t>…</a:t>
            </a:r>
          </a:p>
        </p:txBody>
      </p:sp>
      <p:pic>
        <p:nvPicPr>
          <p:cNvPr id="4" name="Inhaltsplatzhalter 7">
            <a:extLst>
              <a:ext uri="{FF2B5EF4-FFF2-40B4-BE49-F238E27FC236}">
                <a16:creationId xmlns:a16="http://schemas.microsoft.com/office/drawing/2014/main" id="{9919F241-1613-D119-9BF9-EEFFC8E0A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3301" y="0"/>
            <a:ext cx="3797398" cy="5129551"/>
          </a:xfrm>
        </p:spPr>
      </p:pic>
    </p:spTree>
    <p:extLst>
      <p:ext uri="{BB962C8B-B14F-4D97-AF65-F5344CB8AC3E}">
        <p14:creationId xmlns:p14="http://schemas.microsoft.com/office/powerpoint/2010/main" val="240386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6227EDB-74B3-E124-4FD2-F04EBC62B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634" y="737937"/>
            <a:ext cx="9206532" cy="4439651"/>
          </a:xfrm>
          <a:prstGeom prst="rect">
            <a:avLst/>
          </a:prstGeom>
          <a:ln>
            <a:noFill/>
          </a:ln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459423B1-9431-51C8-EAFB-8E19842D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looks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5805689"/>
      </p:ext>
    </p:extLst>
  </p:cSld>
  <p:clrMapOvr>
    <a:masterClrMapping/>
  </p:clrMapOvr>
</p:sld>
</file>

<file path=ppt/theme/theme1.xml><?xml version="1.0" encoding="utf-8"?>
<a:theme xmlns:a="http://schemas.openxmlformats.org/drawingml/2006/main" name="DB_theme">
  <a:themeElements>
    <a:clrScheme name="PAL-CD">
      <a:dk1>
        <a:srgbClr val="4C4D4D"/>
      </a:dk1>
      <a:lt1>
        <a:sysClr val="window" lastClr="FFFFFF"/>
      </a:lt1>
      <a:dk2>
        <a:srgbClr val="171616"/>
      </a:dk2>
      <a:lt2>
        <a:srgbClr val="E7E6E6"/>
      </a:lt2>
      <a:accent1>
        <a:srgbClr val="40B498"/>
      </a:accent1>
      <a:accent2>
        <a:srgbClr val="B1D285"/>
      </a:accent2>
      <a:accent3>
        <a:srgbClr val="1F8299"/>
      </a:accent3>
      <a:accent4>
        <a:srgbClr val="F9C611"/>
      </a:accent4>
      <a:accent5>
        <a:srgbClr val="EA4F30"/>
      </a:accent5>
      <a:accent6>
        <a:srgbClr val="994781"/>
      </a:accent6>
      <a:hlink>
        <a:srgbClr val="1F8299"/>
      </a:hlink>
      <a:folHlink>
        <a:srgbClr val="994781"/>
      </a:folHlink>
    </a:clrScheme>
    <a:fontScheme name="TUD CD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/>
        </a:defPPr>
      </a:lstStyle>
    </a:txDef>
  </a:objectDefaults>
  <a:extraClrSchemeLst/>
  <a:custClrLst>
    <a:custClr name="Brillantblau">
      <a:srgbClr val="00008C"/>
    </a:custClr>
    <a:custClr name="Blau 1">
      <a:srgbClr val="2F57B2"/>
    </a:custClr>
    <a:custClr name="Violett 1">
      <a:srgbClr val="7369BE"/>
    </a:custClr>
    <a:custClr name="Magenta 1">
      <a:srgbClr val="BC1589"/>
    </a:custClr>
    <a:custClr name="Rot 1">
      <a:srgbClr val="D20F41"/>
    </a:custClr>
    <a:custClr name="Orange 1">
      <a:srgbClr val="C85000"/>
    </a:custClr>
    <a:custClr name="Gelb 1">
      <a:srgbClr val="FFC700"/>
    </a:custClr>
    <a:custClr name="Oliv 1">
      <a:srgbClr val="767A23"/>
    </a:custClr>
    <a:custClr name="Grün 1">
      <a:srgbClr val="007D4B"/>
    </a:custClr>
    <a:custClr name="Türkis 1">
      <a:srgbClr val="0A777F"/>
    </a:custClr>
    <a:custClr name="Dunkelblau">
      <a:srgbClr val="001450"/>
    </a:custClr>
    <a:custClr name="Blau 2">
      <a:srgbClr val="97C6FF"/>
    </a:custClr>
    <a:custClr name="Violett 2">
      <a:srgbClr val="C8C8FF"/>
    </a:custClr>
    <a:custClr name="Magenta 2">
      <a:srgbClr val="FFB9FF"/>
    </a:custClr>
    <a:custClr name="Rot 2">
      <a:srgbClr val="FFAAA5"/>
    </a:custClr>
    <a:custClr name="Orange 2">
      <a:srgbClr val="FFBE78"/>
    </a:custClr>
    <a:custClr name="Gelb 2">
      <a:srgbClr val="FFE483"/>
    </a:custClr>
    <a:custClr name="Oliv 2">
      <a:srgbClr val="D2DC46"/>
    </a:custClr>
    <a:custClr name="Grün 2">
      <a:srgbClr val="8CE6AA"/>
    </a:custClr>
    <a:custClr name="Türkis 2">
      <a:srgbClr val="8CE6D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Schwarz">
      <a:srgbClr val="000000"/>
    </a:custClr>
    <a:custClr name="Weiß">
      <a:srgbClr val="FFFFFF"/>
    </a:custClr>
    <a:custClr name="Grau 100">
      <a:srgbClr val="323F4B"/>
    </a:custClr>
    <a:custClr name="Grau 80">
      <a:srgbClr val="566371"/>
    </a:custClr>
    <a:custClr name="Grau 60">
      <a:srgbClr val="7D8894"/>
    </a:custClr>
    <a:custClr name="Grau 40">
      <a:srgbClr val="A5AEB8"/>
    </a:custClr>
    <a:custClr name="Grau 20">
      <a:srgbClr val="D0D5DC"/>
    </a:custClr>
    <a:custClr name="Grau 10">
      <a:srgbClr val="E7E9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DB_template_26v2.potx" id="{346595A6-02AF-417F-B415-CE76A098590B}" vid="{48E7935D-9E50-4D71-ABDC-0DDEEDD198F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Muli"/>
        <a:ea typeface=""/>
        <a:cs typeface=""/>
      </a:majorFont>
      <a:minorFont>
        <a:latin typeface="Mul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Muli"/>
        <a:ea typeface=""/>
        <a:cs typeface=""/>
      </a:majorFont>
      <a:minorFont>
        <a:latin typeface="Mul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DB_template_27</Template>
  <TotalTime>0</TotalTime>
  <Words>583</Words>
  <Application>Microsoft Office PowerPoint</Application>
  <PresentationFormat>Bildschirmpräsentation (16:9)</PresentationFormat>
  <Paragraphs>238</Paragraphs>
  <Slides>18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.AppleSystemUIFont</vt:lpstr>
      <vt:lpstr>Arial</vt:lpstr>
      <vt:lpstr>Muli</vt:lpstr>
      <vt:lpstr>Noto Sans</vt:lpstr>
      <vt:lpstr>Wingdings</vt:lpstr>
      <vt:lpstr>DB_theme</vt:lpstr>
      <vt:lpstr>3. Konzeptueller Entwurf</vt:lpstr>
      <vt:lpstr>Recap</vt:lpstr>
      <vt:lpstr>Details</vt:lpstr>
      <vt:lpstr>Expectations</vt:lpstr>
      <vt:lpstr>Zooming in</vt:lpstr>
      <vt:lpstr>Standard Optimizer</vt:lpstr>
      <vt:lpstr>Why we don’t use a standard optimizer</vt:lpstr>
      <vt:lpstr>SSB</vt:lpstr>
      <vt:lpstr>Why we don’t use a standard optimizer…</vt:lpstr>
      <vt:lpstr>Operators</vt:lpstr>
      <vt:lpstr>Position List</vt:lpstr>
      <vt:lpstr>Bitmap</vt:lpstr>
      <vt:lpstr>Operator Overview</vt:lpstr>
      <vt:lpstr>Set</vt:lpstr>
      <vt:lpstr>Join</vt:lpstr>
      <vt:lpstr>Our System</vt:lpstr>
      <vt:lpstr>Going back to…</vt:lpstr>
      <vt:lpstr>How it looks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Geyer</dc:creator>
  <cp:lastModifiedBy>Andreas Geyer</cp:lastModifiedBy>
  <cp:revision>3</cp:revision>
  <cp:lastPrinted>2017-08-03T12:32:02Z</cp:lastPrinted>
  <dcterms:created xsi:type="dcterms:W3CDTF">2025-10-24T06:51:35Z</dcterms:created>
  <dcterms:modified xsi:type="dcterms:W3CDTF">2025-10-24T10:59:08Z</dcterms:modified>
</cp:coreProperties>
</file>