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</p:sldMasterIdLst>
  <p:notesMasterIdLst>
    <p:notesMasterId r:id="rId20"/>
  </p:notesMasterIdLst>
  <p:handoutMasterIdLst>
    <p:handoutMasterId r:id="rId21"/>
  </p:handoutMasterIdLst>
  <p:sldIdLst>
    <p:sldId id="258" r:id="rId2"/>
    <p:sldId id="350" r:id="rId3"/>
    <p:sldId id="263" r:id="rId4"/>
    <p:sldId id="260" r:id="rId5"/>
    <p:sldId id="264" r:id="rId6"/>
    <p:sldId id="266" r:id="rId7"/>
    <p:sldId id="269" r:id="rId8"/>
    <p:sldId id="354" r:id="rId9"/>
    <p:sldId id="355" r:id="rId10"/>
    <p:sldId id="265" r:id="rId11"/>
    <p:sldId id="267" r:id="rId12"/>
    <p:sldId id="270" r:id="rId13"/>
    <p:sldId id="356" r:id="rId14"/>
    <p:sldId id="351" r:id="rId15"/>
    <p:sldId id="352" r:id="rId16"/>
    <p:sldId id="353" r:id="rId17"/>
    <p:sldId id="357" r:id="rId18"/>
    <p:sldId id="268" r:id="rId19"/>
  </p:sldIdLst>
  <p:sldSz cx="9144000" cy="5143500" type="screen16x9"/>
  <p:notesSz cx="6797675" cy="987425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F30"/>
    <a:srgbClr val="4C4D4D"/>
    <a:srgbClr val="994781"/>
    <a:srgbClr val="1F8299"/>
    <a:srgbClr val="FDE3E0"/>
    <a:srgbClr val="FFFFFF"/>
    <a:srgbClr val="0000FF"/>
    <a:srgbClr val="1E8197"/>
    <a:srgbClr val="4677A0"/>
    <a:srgbClr val="B1D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9" autoAdjust="0"/>
    <p:restoredTop sz="75186" autoAdjust="0"/>
  </p:normalViewPr>
  <p:slideViewPr>
    <p:cSldViewPr snapToGrid="0">
      <p:cViewPr varScale="1">
        <p:scale>
          <a:sx n="238" d="100"/>
          <a:sy n="238" d="100"/>
        </p:scale>
        <p:origin x="214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449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2165-45DD-4E6A-8D88-991CFCF20576}" type="datetimeFigureOut">
              <a:rPr lang="de-DE" smtClean="0"/>
              <a:t>16.10.2025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92895-00AB-4E56-A4C3-B2032C42F3A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6150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2A775-C49D-45BA-A919-7D687A0440E7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11513" y="1048806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A0D67-EDAE-48EC-829F-B147F97990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45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511175" y="1049338"/>
            <a:ext cx="5924550" cy="33337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A0D67-EDAE-48EC-829F-B147F979906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330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A0D67-EDAE-48EC-829F-B147F979906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295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A0D67-EDAE-48EC-829F-B147F979906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4040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511175" y="1049338"/>
            <a:ext cx="5924550" cy="33337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A0D67-EDAE-48EC-829F-B147F9799060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7903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2">
            <a:extLst>
              <a:ext uri="{FF2B5EF4-FFF2-40B4-BE49-F238E27FC236}">
                <a16:creationId xmlns:a16="http://schemas.microsoft.com/office/drawing/2014/main" id="{78EB5448-CB43-4AB5-9896-966A304F24F6}"/>
              </a:ext>
            </a:extLst>
          </p:cNvPr>
          <p:cNvSpPr/>
          <p:nvPr userDrawn="1"/>
        </p:nvSpPr>
        <p:spPr>
          <a:xfrm>
            <a:off x="0" y="0"/>
            <a:ext cx="9144000" cy="3281516"/>
          </a:xfrm>
          <a:prstGeom prst="rect">
            <a:avLst/>
          </a:prstGeom>
          <a:solidFill>
            <a:srgbClr val="00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D0E3F3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5810B3-36E7-45C1-B2D9-2390CFF36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0" y="3489836"/>
            <a:ext cx="7617519" cy="832726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algn="l">
              <a:defRPr sz="2800" b="1" cap="none" baseline="0">
                <a:solidFill>
                  <a:srgbClr val="00145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367903-E3EB-477B-A699-F45F3DE48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00" y="4403725"/>
            <a:ext cx="6840000" cy="324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8C41BBC-6449-4D54-AAE1-BA9DD75749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336" y="151471"/>
            <a:ext cx="1392871" cy="57996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0F23A0E-B856-46A2-AD26-40FDD3F8AC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1236" y="235721"/>
            <a:ext cx="1183989" cy="411468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9DF8DB4-0052-40D0-95EE-CE0CE38DE526}"/>
              </a:ext>
            </a:extLst>
          </p:cNvPr>
          <p:cNvGrpSpPr/>
          <p:nvPr userDrawn="1"/>
        </p:nvGrpSpPr>
        <p:grpSpPr>
          <a:xfrm>
            <a:off x="0" y="-1"/>
            <a:ext cx="5969752" cy="3281517"/>
            <a:chOff x="23346" y="19454"/>
            <a:chExt cx="5969752" cy="3281517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317DBEEB-21E6-4BCE-8C61-17F1336BB2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0609" t="49971" r="-1" b="332"/>
            <a:stretch/>
          </p:blipFill>
          <p:spPr>
            <a:xfrm>
              <a:off x="23346" y="19454"/>
              <a:ext cx="1894048" cy="1905749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4AC1ED8C-70C9-43AA-A480-E9C857A0C2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-334" b="17173"/>
            <a:stretch/>
          </p:blipFill>
          <p:spPr>
            <a:xfrm>
              <a:off x="120458" y="111949"/>
              <a:ext cx="3834788" cy="3189022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FD9330AF-ACCE-4A8A-B17D-205B2DC7C2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49915" t="-334" b="70094"/>
            <a:stretch/>
          </p:blipFill>
          <p:spPr>
            <a:xfrm>
              <a:off x="23346" y="2141313"/>
              <a:ext cx="1920654" cy="1159658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BE78F5D6-9F34-4E07-9585-F1D8509E102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t="-335" b="69891"/>
            <a:stretch/>
          </p:blipFill>
          <p:spPr>
            <a:xfrm>
              <a:off x="2158310" y="2133525"/>
              <a:ext cx="3834788" cy="1167446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73171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2">
            <a:extLst>
              <a:ext uri="{FF2B5EF4-FFF2-40B4-BE49-F238E27FC236}">
                <a16:creationId xmlns:a16="http://schemas.microsoft.com/office/drawing/2014/main" id="{78EB5448-CB43-4AB5-9896-966A304F24F6}"/>
              </a:ext>
            </a:extLst>
          </p:cNvPr>
          <p:cNvSpPr/>
          <p:nvPr userDrawn="1"/>
        </p:nvSpPr>
        <p:spPr>
          <a:xfrm>
            <a:off x="0" y="0"/>
            <a:ext cx="9144000" cy="3281516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D0E3F3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367903-E3EB-477B-A699-F45F3DE48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00" y="4403725"/>
            <a:ext cx="6840000" cy="324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8C41BBC-6449-4D54-AAE1-BA9DD75749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336" y="151471"/>
            <a:ext cx="1392871" cy="57996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0F23A0E-B856-46A2-AD26-40FDD3F8AC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1236" y="235721"/>
            <a:ext cx="1183989" cy="41146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A5810B3-36E7-45C1-B2D9-2390CFF36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0" y="3489836"/>
            <a:ext cx="7617519" cy="832726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algn="l">
              <a:defRPr sz="2800" b="1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1" name="Textfeld 5">
            <a:extLst>
              <a:ext uri="{FF2B5EF4-FFF2-40B4-BE49-F238E27FC236}">
                <a16:creationId xmlns:a16="http://schemas.microsoft.com/office/drawing/2014/main" id="{415E0A4B-2D60-4A02-BB55-0ABCFB2E0462}"/>
              </a:ext>
            </a:extLst>
          </p:cNvPr>
          <p:cNvSpPr txBox="1"/>
          <p:nvPr userDrawn="1"/>
        </p:nvSpPr>
        <p:spPr>
          <a:xfrm>
            <a:off x="133308" y="0"/>
            <a:ext cx="5139084" cy="4616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0" b="1" dirty="0">
                <a:ln w="63500">
                  <a:noFill/>
                </a:ln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</a:t>
            </a:r>
            <a:endParaRPr lang="de-DE" sz="30000" b="1" dirty="0">
              <a:ln w="63500">
                <a:noFill/>
              </a:ln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98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9">
            <a:extLst>
              <a:ext uri="{FF2B5EF4-FFF2-40B4-BE49-F238E27FC236}">
                <a16:creationId xmlns:a16="http://schemas.microsoft.com/office/drawing/2014/main" id="{156B425A-DC3F-4CA5-9A32-FC1A4F41BC32}"/>
              </a:ext>
            </a:extLst>
          </p:cNvPr>
          <p:cNvSpPr/>
          <p:nvPr userDrawn="1"/>
        </p:nvSpPr>
        <p:spPr>
          <a:xfrm>
            <a:off x="0" y="478350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3">
            <a:extLst>
              <a:ext uri="{FF2B5EF4-FFF2-40B4-BE49-F238E27FC236}">
                <a16:creationId xmlns:a16="http://schemas.microsoft.com/office/drawing/2014/main" id="{7F731D6F-1D08-497C-9B88-A950D5A1974B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AB3FB9C-DEB1-4BC4-BDFC-2123B6314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37932E3-D133-477E-809F-5012C6A60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0" y="3489836"/>
            <a:ext cx="7617519" cy="832726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algn="l">
              <a:defRPr sz="2400" b="1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2" name="Rechteck 2">
            <a:extLst>
              <a:ext uri="{FF2B5EF4-FFF2-40B4-BE49-F238E27FC236}">
                <a16:creationId xmlns:a16="http://schemas.microsoft.com/office/drawing/2014/main" id="{FA0F772F-55F9-4F52-A39C-091B2FABCD1E}"/>
              </a:ext>
            </a:extLst>
          </p:cNvPr>
          <p:cNvSpPr/>
          <p:nvPr userDrawn="1"/>
        </p:nvSpPr>
        <p:spPr>
          <a:xfrm>
            <a:off x="0" y="820938"/>
            <a:ext cx="9144000" cy="2491571"/>
          </a:xfrm>
          <a:prstGeom prst="rect">
            <a:avLst/>
          </a:prstGeom>
          <a:solidFill>
            <a:srgbClr val="97C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6252AC84-014D-4AFD-9C9D-FFDAC39E1330}"/>
              </a:ext>
            </a:extLst>
          </p:cNvPr>
          <p:cNvGrpSpPr/>
          <p:nvPr userDrawn="1"/>
        </p:nvGrpSpPr>
        <p:grpSpPr>
          <a:xfrm>
            <a:off x="0" y="0"/>
            <a:ext cx="6031824" cy="3315637"/>
            <a:chOff x="23346" y="19454"/>
            <a:chExt cx="5969752" cy="3281517"/>
          </a:xfrm>
          <a:solidFill>
            <a:schemeClr val="bg1"/>
          </a:solidFill>
        </p:grpSpPr>
        <p:pic>
          <p:nvPicPr>
            <p:cNvPr id="45" name="Grafik 44">
              <a:extLst>
                <a:ext uri="{FF2B5EF4-FFF2-40B4-BE49-F238E27FC236}">
                  <a16:creationId xmlns:a16="http://schemas.microsoft.com/office/drawing/2014/main" id="{325737AF-D09D-4E17-B8F7-95C08F6E58B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50609" t="49971" r="-1" b="332"/>
            <a:stretch/>
          </p:blipFill>
          <p:spPr>
            <a:xfrm>
              <a:off x="23346" y="19454"/>
              <a:ext cx="1894048" cy="1905749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98E0A8F9-D015-4DEA-8888-2CFCC480946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-2533" t="-334" r="-1375" b="17173"/>
            <a:stretch/>
          </p:blipFill>
          <p:spPr>
            <a:xfrm>
              <a:off x="23346" y="111949"/>
              <a:ext cx="3984659" cy="3189022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47" name="Grafik 46">
              <a:extLst>
                <a:ext uri="{FF2B5EF4-FFF2-40B4-BE49-F238E27FC236}">
                  <a16:creationId xmlns:a16="http://schemas.microsoft.com/office/drawing/2014/main" id="{2481B8EC-B85F-4461-AC06-5810AF63E0F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49915" t="-1473" b="70094"/>
            <a:stretch/>
          </p:blipFill>
          <p:spPr>
            <a:xfrm>
              <a:off x="23346" y="2097609"/>
              <a:ext cx="1920654" cy="1203362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  <p:pic>
          <p:nvPicPr>
            <p:cNvPr id="48" name="Grafik 47">
              <a:extLst>
                <a:ext uri="{FF2B5EF4-FFF2-40B4-BE49-F238E27FC236}">
                  <a16:creationId xmlns:a16="http://schemas.microsoft.com/office/drawing/2014/main" id="{4F4B5570-069A-44ED-9D17-93BEED091EC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-335" b="69891"/>
            <a:stretch/>
          </p:blipFill>
          <p:spPr>
            <a:xfrm>
              <a:off x="2158310" y="2133525"/>
              <a:ext cx="3834788" cy="1167446"/>
            </a:xfrm>
            <a:custGeom>
              <a:avLst/>
              <a:gdLst>
                <a:gd name="connsiteX0" fmla="*/ 0 w 7543178"/>
                <a:gd name="connsiteY0" fmla="*/ 0 h 5143500"/>
                <a:gd name="connsiteX1" fmla="*/ 7543178 w 7543178"/>
                <a:gd name="connsiteY1" fmla="*/ 0 h 5143500"/>
                <a:gd name="connsiteX2" fmla="*/ 7543178 w 7543178"/>
                <a:gd name="connsiteY2" fmla="*/ 5143500 h 5143500"/>
                <a:gd name="connsiteX3" fmla="*/ 0 w 754317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3178" h="5143500">
                  <a:moveTo>
                    <a:pt x="0" y="0"/>
                  </a:moveTo>
                  <a:lnTo>
                    <a:pt x="7543178" y="0"/>
                  </a:lnTo>
                  <a:lnTo>
                    <a:pt x="7543178" y="5143500"/>
                  </a:lnTo>
                  <a:lnTo>
                    <a:pt x="0" y="514350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58606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C76BFC-A0B5-41C2-9F46-18F42AD0D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00" y="918992"/>
            <a:ext cx="8784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90488" indent="-90488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 b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defRPr sz="1200" b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200150" indent="-171450">
              <a:buFont typeface="Arial" panose="020B0604020202020204" pitchFamily="34" charset="0"/>
              <a:buChar char="•"/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38D5B92-0678-4014-8144-A83886AB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255600"/>
            <a:ext cx="6480000" cy="432000"/>
          </a:xfrm>
          <a:prstGeom prst="rect">
            <a:avLst/>
          </a:prstGeom>
        </p:spPr>
        <p:txBody>
          <a:bodyPr anchor="t"/>
          <a:lstStyle>
            <a:lvl1pPr>
              <a:defRPr sz="2200"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Rechteck 9">
            <a:extLst>
              <a:ext uri="{FF2B5EF4-FFF2-40B4-BE49-F238E27FC236}">
                <a16:creationId xmlns:a16="http://schemas.microsoft.com/office/drawing/2014/main" id="{8667E8E4-144C-4439-ACFF-8EAE1A912139}"/>
              </a:ext>
            </a:extLst>
          </p:cNvPr>
          <p:cNvSpPr/>
          <p:nvPr userDrawn="1"/>
        </p:nvSpPr>
        <p:spPr>
          <a:xfrm>
            <a:off x="0" y="478169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3">
            <a:extLst>
              <a:ext uri="{FF2B5EF4-FFF2-40B4-BE49-F238E27FC236}">
                <a16:creationId xmlns:a16="http://schemas.microsoft.com/office/drawing/2014/main" id="{58BC81EA-751F-4B73-877A-BA1B3F80CC16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8FFADE0-5169-429A-80D3-48D8CFAB82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3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24046-3C76-4DC2-BA67-A69839A06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00" y="918992"/>
            <a:ext cx="4248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tabLst>
                <a:tab pos="4124325" algn="l"/>
              </a:tabLst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507A55-4D50-4BD2-A803-00062D16A6D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16000" y="918992"/>
            <a:ext cx="4248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normalizeH="0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200150" indent="-171450">
              <a:buFont typeface="Muli" panose="00000500000000000000" pitchFamily="2" charset="0"/>
              <a:buChar char="•"/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776CB73-0C61-4C90-B5F8-7055FBF3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255600"/>
            <a:ext cx="6480000" cy="432000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Rechteck 9">
            <a:extLst>
              <a:ext uri="{FF2B5EF4-FFF2-40B4-BE49-F238E27FC236}">
                <a16:creationId xmlns:a16="http://schemas.microsoft.com/office/drawing/2014/main" id="{411A694B-DC94-41DA-879E-BCF3F7CA8245}"/>
              </a:ext>
            </a:extLst>
          </p:cNvPr>
          <p:cNvSpPr/>
          <p:nvPr userDrawn="1"/>
        </p:nvSpPr>
        <p:spPr>
          <a:xfrm>
            <a:off x="0" y="478350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3">
            <a:extLst>
              <a:ext uri="{FF2B5EF4-FFF2-40B4-BE49-F238E27FC236}">
                <a16:creationId xmlns:a16="http://schemas.microsoft.com/office/drawing/2014/main" id="{2DEFAFCD-E91B-4F39-BD91-89E4E44EA446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EDD851-9A95-47FF-8CA0-17B9D2B3A6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7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B5BE-8D86-40AF-80CB-484B2DB69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00" y="918992"/>
            <a:ext cx="2772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013DE7-AF95-4097-9F10-23E9F56848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92000" y="918992"/>
            <a:ext cx="2772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tabLst>
                <a:tab pos="627063" algn="l"/>
              </a:tabLst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C04079-1F7D-474D-8317-327DB5F8151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186000" y="918992"/>
            <a:ext cx="2772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>
              <a:lnSpc>
                <a:spcPts val="2200"/>
              </a:lnSpc>
              <a:buFont typeface="Muli" panose="00000500000000000000" pitchFamily="2" charset="0"/>
              <a:buChar char=" "/>
              <a:defRPr sz="1500" b="1" i="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>
              <a:buFont typeface="Arial" panose="020B0604020202020204" pitchFamily="34" charset="0"/>
              <a:buChar char="▪"/>
              <a:defRPr sz="13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>
              <a:buFont typeface="Muli" panose="00000500000000000000" pitchFamily="2" charset="0"/>
              <a:buChar char="-"/>
              <a:defRPr sz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D40147BA-88B8-4FBA-A040-597C535D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255600"/>
            <a:ext cx="6480000" cy="432000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Rechteck 9">
            <a:extLst>
              <a:ext uri="{FF2B5EF4-FFF2-40B4-BE49-F238E27FC236}">
                <a16:creationId xmlns:a16="http://schemas.microsoft.com/office/drawing/2014/main" id="{BC64F559-082D-4C32-A896-BCEE81F8E129}"/>
              </a:ext>
            </a:extLst>
          </p:cNvPr>
          <p:cNvSpPr/>
          <p:nvPr userDrawn="1"/>
        </p:nvSpPr>
        <p:spPr>
          <a:xfrm>
            <a:off x="0" y="478169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3">
            <a:extLst>
              <a:ext uri="{FF2B5EF4-FFF2-40B4-BE49-F238E27FC236}">
                <a16:creationId xmlns:a16="http://schemas.microsoft.com/office/drawing/2014/main" id="{F8D25D59-BC91-4FAF-90C0-C1DEC867E6AE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DA4E479-51B3-4D80-A442-6CDFAC05D8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95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B9658CE-CA94-4DB0-B430-740791A3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255600"/>
            <a:ext cx="6480000" cy="432000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Rechteck 9">
            <a:extLst>
              <a:ext uri="{FF2B5EF4-FFF2-40B4-BE49-F238E27FC236}">
                <a16:creationId xmlns:a16="http://schemas.microsoft.com/office/drawing/2014/main" id="{BEDCFD5B-7EBB-4CD6-ADC5-AEB13E60D3C9}"/>
              </a:ext>
            </a:extLst>
          </p:cNvPr>
          <p:cNvSpPr/>
          <p:nvPr userDrawn="1"/>
        </p:nvSpPr>
        <p:spPr>
          <a:xfrm>
            <a:off x="0" y="4781690"/>
            <a:ext cx="9144000" cy="360000"/>
          </a:xfrm>
          <a:prstGeom prst="rect">
            <a:avLst/>
          </a:prstGeom>
          <a:solidFill>
            <a:srgbClr val="E7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E1492E8-9584-48FE-8EC6-C4B33BF75D4E}"/>
              </a:ext>
            </a:extLst>
          </p:cNvPr>
          <p:cNvSpPr txBox="1"/>
          <p:nvPr userDrawn="1"/>
        </p:nvSpPr>
        <p:spPr>
          <a:xfrm>
            <a:off x="8553600" y="4824000"/>
            <a:ext cx="5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9DDD7E6-EF1D-4D76-8D7C-7B5499DA39D6}" type="slidenum">
              <a:rPr lang="de-DE" sz="1200" smtClean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algn="ctr"/>
              <a:t>‹Nr.›</a:t>
            </a:fld>
            <a:endParaRPr lang="de-DE" sz="1200" dirty="0" err="1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5BAC9D-5689-45A3-A121-FDD89E8E6B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22" t="17710" r="7197" b="12296"/>
          <a:stretch/>
        </p:blipFill>
        <p:spPr>
          <a:xfrm>
            <a:off x="360000" y="4848263"/>
            <a:ext cx="699657" cy="2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4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891427B-DBAA-4EA4-9BD8-6A896CC8A20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01236" y="235721"/>
            <a:ext cx="1183989" cy="41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6" r:id="rId3"/>
    <p:sldLayoutId id="2147483673" r:id="rId4"/>
    <p:sldLayoutId id="2147483674" r:id="rId5"/>
    <p:sldLayoutId id="2147483675" r:id="rId6"/>
    <p:sldLayoutId id="2147483676" r:id="rId7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2C8C85-74DD-4517-A6BD-880EB742A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0. Kickoff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9794AE-EB27-4746-BF52-6CC94F49EF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Practical Projects 2025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764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Disaggregation</a:t>
            </a:r>
            <a:endParaRPr lang="de-DE" dirty="0"/>
          </a:p>
        </p:txBody>
      </p:sp>
      <p:grpSp>
        <p:nvGrpSpPr>
          <p:cNvPr id="122" name="Gruppieren 121"/>
          <p:cNvGrpSpPr/>
          <p:nvPr/>
        </p:nvGrpSpPr>
        <p:grpSpPr>
          <a:xfrm>
            <a:off x="240295" y="1462745"/>
            <a:ext cx="2547514" cy="2131195"/>
            <a:chOff x="180000" y="1715993"/>
            <a:chExt cx="2818564" cy="2357950"/>
          </a:xfrm>
        </p:grpSpPr>
        <p:sp>
          <p:nvSpPr>
            <p:cNvPr id="59" name="Rechteck 4"/>
            <p:cNvSpPr/>
            <p:nvPr/>
          </p:nvSpPr>
          <p:spPr>
            <a:xfrm>
              <a:off x="180000" y="1715993"/>
              <a:ext cx="2818564" cy="2357950"/>
            </a:xfrm>
            <a:prstGeom prst="rect">
              <a:avLst/>
            </a:prstGeom>
            <a:solidFill>
              <a:srgbClr val="FDE3E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Oval 5"/>
            <p:cNvSpPr/>
            <p:nvPr/>
          </p:nvSpPr>
          <p:spPr>
            <a:xfrm>
              <a:off x="964792" y="2285200"/>
              <a:ext cx="428291" cy="420995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Oval 6"/>
            <p:cNvSpPr/>
            <p:nvPr/>
          </p:nvSpPr>
          <p:spPr>
            <a:xfrm>
              <a:off x="1756450" y="2285200"/>
              <a:ext cx="428291" cy="420995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Oval 7"/>
            <p:cNvSpPr/>
            <p:nvPr/>
          </p:nvSpPr>
          <p:spPr>
            <a:xfrm>
              <a:off x="964792" y="3064267"/>
              <a:ext cx="428291" cy="420995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Oval 8"/>
            <p:cNvSpPr/>
            <p:nvPr/>
          </p:nvSpPr>
          <p:spPr>
            <a:xfrm>
              <a:off x="1756450" y="3064267"/>
              <a:ext cx="428291" cy="420995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4" name="Rectangle 117"/>
            <p:cNvSpPr/>
            <p:nvPr/>
          </p:nvSpPr>
          <p:spPr>
            <a:xfrm>
              <a:off x="1762662" y="1821234"/>
              <a:ext cx="415866" cy="2676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Cache</a:t>
              </a:r>
            </a:p>
          </p:txBody>
        </p:sp>
        <p:sp>
          <p:nvSpPr>
            <p:cNvPr id="65" name="Rectangle 117"/>
            <p:cNvSpPr/>
            <p:nvPr/>
          </p:nvSpPr>
          <p:spPr>
            <a:xfrm>
              <a:off x="971004" y="1821234"/>
              <a:ext cx="415866" cy="2676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Cache</a:t>
              </a:r>
            </a:p>
          </p:txBody>
        </p:sp>
        <p:cxnSp>
          <p:nvCxnSpPr>
            <p:cNvPr id="66" name="Straight Connector 121"/>
            <p:cNvCxnSpPr>
              <a:cxnSpLocks/>
              <a:stCxn id="62" idx="7"/>
              <a:endCxn id="61" idx="3"/>
            </p:cNvCxnSpPr>
            <p:nvPr/>
          </p:nvCxnSpPr>
          <p:spPr>
            <a:xfrm flipV="1">
              <a:off x="1330361" y="2644542"/>
              <a:ext cx="488811" cy="481379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54"/>
            <p:cNvCxnSpPr>
              <a:cxnSpLocks/>
              <a:stCxn id="62" idx="4"/>
              <a:endCxn id="68" idx="0"/>
            </p:cNvCxnSpPr>
            <p:nvPr/>
          </p:nvCxnSpPr>
          <p:spPr>
            <a:xfrm flipH="1">
              <a:off x="1178937" y="3485262"/>
              <a:ext cx="1" cy="2078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117"/>
            <p:cNvSpPr/>
            <p:nvPr/>
          </p:nvSpPr>
          <p:spPr>
            <a:xfrm>
              <a:off x="971004" y="3693122"/>
              <a:ext cx="415866" cy="2676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Cache</a:t>
              </a:r>
            </a:p>
          </p:txBody>
        </p:sp>
        <p:sp>
          <p:nvSpPr>
            <p:cNvPr id="69" name="Rectangle 117"/>
            <p:cNvSpPr/>
            <p:nvPr/>
          </p:nvSpPr>
          <p:spPr>
            <a:xfrm>
              <a:off x="1762662" y="3693121"/>
              <a:ext cx="415866" cy="2676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Cache</a:t>
              </a:r>
            </a:p>
          </p:txBody>
        </p:sp>
        <p:cxnSp>
          <p:nvCxnSpPr>
            <p:cNvPr id="70" name="Straight Connector 121"/>
            <p:cNvCxnSpPr>
              <a:cxnSpLocks/>
              <a:stCxn id="60" idx="5"/>
              <a:endCxn id="63" idx="1"/>
            </p:cNvCxnSpPr>
            <p:nvPr/>
          </p:nvCxnSpPr>
          <p:spPr>
            <a:xfrm>
              <a:off x="1330361" y="2644542"/>
              <a:ext cx="488811" cy="481379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>
              <a:cxnSpLocks/>
              <a:stCxn id="62" idx="6"/>
              <a:endCxn id="63" idx="2"/>
            </p:cNvCxnSpPr>
            <p:nvPr/>
          </p:nvCxnSpPr>
          <p:spPr>
            <a:xfrm>
              <a:off x="1393082" y="3274764"/>
              <a:ext cx="363367" cy="0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1"/>
            <p:cNvCxnSpPr/>
            <p:nvPr/>
          </p:nvCxnSpPr>
          <p:spPr>
            <a:xfrm>
              <a:off x="1393082" y="2478229"/>
              <a:ext cx="363367" cy="0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>
              <a:cxnSpLocks/>
              <a:stCxn id="60" idx="4"/>
              <a:endCxn id="62" idx="0"/>
            </p:cNvCxnSpPr>
            <p:nvPr/>
          </p:nvCxnSpPr>
          <p:spPr>
            <a:xfrm>
              <a:off x="1178937" y="2706195"/>
              <a:ext cx="0" cy="358072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1"/>
            <p:cNvCxnSpPr>
              <a:cxnSpLocks/>
              <a:stCxn id="61" idx="4"/>
              <a:endCxn id="63" idx="0"/>
            </p:cNvCxnSpPr>
            <p:nvPr/>
          </p:nvCxnSpPr>
          <p:spPr>
            <a:xfrm>
              <a:off x="1970595" y="2706195"/>
              <a:ext cx="0" cy="358072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54"/>
            <p:cNvCxnSpPr>
              <a:cxnSpLocks/>
              <a:stCxn id="68" idx="1"/>
              <a:endCxn id="76" idx="3"/>
            </p:cNvCxnSpPr>
            <p:nvPr/>
          </p:nvCxnSpPr>
          <p:spPr>
            <a:xfrm flipH="1">
              <a:off x="824858" y="3826962"/>
              <a:ext cx="14614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117"/>
            <p:cNvSpPr/>
            <p:nvPr/>
          </p:nvSpPr>
          <p:spPr>
            <a:xfrm>
              <a:off x="289139" y="3652603"/>
              <a:ext cx="535719" cy="34871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RAM</a:t>
              </a:r>
            </a:p>
          </p:txBody>
        </p:sp>
        <p:cxnSp>
          <p:nvCxnSpPr>
            <p:cNvPr id="77" name="Straight Connector 154"/>
            <p:cNvCxnSpPr>
              <a:cxnSpLocks/>
              <a:stCxn id="65" idx="1"/>
              <a:endCxn id="78" idx="3"/>
            </p:cNvCxnSpPr>
            <p:nvPr/>
          </p:nvCxnSpPr>
          <p:spPr>
            <a:xfrm flipH="1">
              <a:off x="825306" y="1955074"/>
              <a:ext cx="14569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117"/>
            <p:cNvSpPr/>
            <p:nvPr/>
          </p:nvSpPr>
          <p:spPr>
            <a:xfrm>
              <a:off x="289587" y="1780716"/>
              <a:ext cx="535719" cy="34871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RAM</a:t>
              </a:r>
            </a:p>
          </p:txBody>
        </p:sp>
        <p:cxnSp>
          <p:nvCxnSpPr>
            <p:cNvPr id="79" name="Straight Connector 154"/>
            <p:cNvCxnSpPr>
              <a:cxnSpLocks/>
              <a:stCxn id="60" idx="0"/>
              <a:endCxn id="65" idx="2"/>
            </p:cNvCxnSpPr>
            <p:nvPr/>
          </p:nvCxnSpPr>
          <p:spPr>
            <a:xfrm flipH="1" flipV="1">
              <a:off x="1178937" y="2088914"/>
              <a:ext cx="1" cy="1962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54"/>
            <p:cNvCxnSpPr>
              <a:cxnSpLocks/>
              <a:stCxn id="69" idx="0"/>
              <a:endCxn id="63" idx="4"/>
            </p:cNvCxnSpPr>
            <p:nvPr/>
          </p:nvCxnSpPr>
          <p:spPr>
            <a:xfrm flipV="1">
              <a:off x="1970595" y="3485262"/>
              <a:ext cx="1" cy="2078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54"/>
            <p:cNvCxnSpPr>
              <a:cxnSpLocks/>
              <a:stCxn id="64" idx="2"/>
              <a:endCxn id="61" idx="0"/>
            </p:cNvCxnSpPr>
            <p:nvPr/>
          </p:nvCxnSpPr>
          <p:spPr>
            <a:xfrm>
              <a:off x="1970595" y="2088914"/>
              <a:ext cx="1" cy="1962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117"/>
            <p:cNvSpPr/>
            <p:nvPr/>
          </p:nvSpPr>
          <p:spPr>
            <a:xfrm>
              <a:off x="2326940" y="3652603"/>
              <a:ext cx="535719" cy="34871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RAM</a:t>
              </a:r>
            </a:p>
          </p:txBody>
        </p:sp>
        <p:sp>
          <p:nvSpPr>
            <p:cNvPr id="83" name="Rectangle 117"/>
            <p:cNvSpPr/>
            <p:nvPr/>
          </p:nvSpPr>
          <p:spPr>
            <a:xfrm>
              <a:off x="2326941" y="1780715"/>
              <a:ext cx="535719" cy="34871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RAM</a:t>
              </a:r>
            </a:p>
          </p:txBody>
        </p:sp>
        <p:cxnSp>
          <p:nvCxnSpPr>
            <p:cNvPr id="84" name="Straight Connector 154"/>
            <p:cNvCxnSpPr>
              <a:cxnSpLocks/>
              <a:stCxn id="82" idx="1"/>
              <a:endCxn id="69" idx="3"/>
            </p:cNvCxnSpPr>
            <p:nvPr/>
          </p:nvCxnSpPr>
          <p:spPr>
            <a:xfrm flipH="1" flipV="1">
              <a:off x="2178528" y="3826961"/>
              <a:ext cx="148412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54"/>
            <p:cNvCxnSpPr>
              <a:cxnSpLocks/>
              <a:stCxn id="83" idx="1"/>
              <a:endCxn id="64" idx="3"/>
            </p:cNvCxnSpPr>
            <p:nvPr/>
          </p:nvCxnSpPr>
          <p:spPr>
            <a:xfrm flipH="1">
              <a:off x="2178528" y="1955074"/>
              <a:ext cx="14841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hteck 85"/>
            <p:cNvSpPr/>
            <p:nvPr/>
          </p:nvSpPr>
          <p:spPr>
            <a:xfrm>
              <a:off x="1429388" y="2308394"/>
              <a:ext cx="303633" cy="170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" b="1" dirty="0">
                  <a:solidFill>
                    <a:srgbClr val="1F497D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QPI</a:t>
              </a:r>
              <a:endParaRPr lang="en-US" sz="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7" name="Rechteck 86"/>
            <p:cNvSpPr/>
            <p:nvPr/>
          </p:nvSpPr>
          <p:spPr>
            <a:xfrm rot="16200000">
              <a:off x="1922712" y="2799991"/>
              <a:ext cx="303633" cy="170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" b="1" dirty="0">
                  <a:solidFill>
                    <a:srgbClr val="1F497D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QPI</a:t>
              </a:r>
              <a:endParaRPr lang="en-US" sz="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8" name="Rechteck 87"/>
            <p:cNvSpPr/>
            <p:nvPr/>
          </p:nvSpPr>
          <p:spPr>
            <a:xfrm rot="5400000">
              <a:off x="950838" y="2799991"/>
              <a:ext cx="303633" cy="170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" b="1" dirty="0">
                  <a:solidFill>
                    <a:srgbClr val="1F497D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QPI</a:t>
              </a:r>
              <a:endParaRPr lang="en-US" sz="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9" name="Rechteck 88"/>
            <p:cNvSpPr/>
            <p:nvPr/>
          </p:nvSpPr>
          <p:spPr>
            <a:xfrm rot="2760110">
              <a:off x="1357874" y="2635360"/>
              <a:ext cx="303633" cy="170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" b="1" dirty="0">
                  <a:solidFill>
                    <a:srgbClr val="1F497D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QPI</a:t>
              </a:r>
              <a:endParaRPr lang="en-US" sz="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0" name="Rechteck 89"/>
            <p:cNvSpPr/>
            <p:nvPr/>
          </p:nvSpPr>
          <p:spPr>
            <a:xfrm rot="18876412">
              <a:off x="1358574" y="2963193"/>
              <a:ext cx="303633" cy="170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" b="1" dirty="0">
                  <a:solidFill>
                    <a:srgbClr val="1F497D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QPI</a:t>
              </a:r>
              <a:endParaRPr lang="en-US" sz="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1" name="Rechteck 86"/>
            <p:cNvSpPr/>
            <p:nvPr/>
          </p:nvSpPr>
          <p:spPr>
            <a:xfrm>
              <a:off x="1437771" y="3099840"/>
              <a:ext cx="303633" cy="170261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sz="400" b="1" dirty="0">
                  <a:solidFill>
                    <a:srgbClr val="1F497D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QPI</a:t>
              </a:r>
              <a:endParaRPr lang="en-US" sz="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44" name="Gruppieren 143"/>
          <p:cNvGrpSpPr/>
          <p:nvPr/>
        </p:nvGrpSpPr>
        <p:grpSpPr>
          <a:xfrm>
            <a:off x="3442953" y="2176641"/>
            <a:ext cx="765012" cy="885229"/>
            <a:chOff x="3279192" y="2832558"/>
            <a:chExt cx="1045458" cy="1209745"/>
          </a:xfrm>
          <a:solidFill>
            <a:schemeClr val="bg1">
              <a:lumMod val="85000"/>
            </a:schemeClr>
          </a:solidFill>
        </p:grpSpPr>
        <p:sp>
          <p:nvSpPr>
            <p:cNvPr id="140" name="Flussdiagramm: Magnetplattenspeicher 139"/>
            <p:cNvSpPr/>
            <p:nvPr/>
          </p:nvSpPr>
          <p:spPr>
            <a:xfrm>
              <a:off x="3279192" y="2917757"/>
              <a:ext cx="696972" cy="888904"/>
            </a:xfrm>
            <a:prstGeom prst="flowChartMagneticDisk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1" name="Flussdiagramm: Magnetplattenspeicher 140"/>
            <p:cNvSpPr/>
            <p:nvPr/>
          </p:nvSpPr>
          <p:spPr>
            <a:xfrm>
              <a:off x="3627678" y="2832558"/>
              <a:ext cx="696972" cy="888904"/>
            </a:xfrm>
            <a:prstGeom prst="flowChartMagneticDisk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2" name="Flussdiagramm: Magnetplattenspeicher 141"/>
            <p:cNvSpPr/>
            <p:nvPr/>
          </p:nvSpPr>
          <p:spPr>
            <a:xfrm>
              <a:off x="3466425" y="3153399"/>
              <a:ext cx="696972" cy="888904"/>
            </a:xfrm>
            <a:prstGeom prst="flowChartMagneticDisk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45" name="Pfeil nach links und rechts 144"/>
          <p:cNvSpPr/>
          <p:nvPr/>
        </p:nvSpPr>
        <p:spPr>
          <a:xfrm>
            <a:off x="2880061" y="2455814"/>
            <a:ext cx="409889" cy="12725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72" name="Gruppieren 171"/>
          <p:cNvGrpSpPr/>
          <p:nvPr/>
        </p:nvGrpSpPr>
        <p:grpSpPr>
          <a:xfrm>
            <a:off x="5395168" y="1409795"/>
            <a:ext cx="1162559" cy="1134838"/>
            <a:chOff x="4875690" y="1561229"/>
            <a:chExt cx="1162559" cy="1134838"/>
          </a:xfrm>
        </p:grpSpPr>
        <p:grpSp>
          <p:nvGrpSpPr>
            <p:cNvPr id="139" name="Gruppieren 138"/>
            <p:cNvGrpSpPr/>
            <p:nvPr/>
          </p:nvGrpSpPr>
          <p:grpSpPr>
            <a:xfrm>
              <a:off x="4875690" y="1845334"/>
              <a:ext cx="1130269" cy="850733"/>
              <a:chOff x="4564028" y="1409191"/>
              <a:chExt cx="1618871" cy="1218495"/>
            </a:xfrm>
          </p:grpSpPr>
          <p:sp>
            <p:nvSpPr>
              <p:cNvPr id="123" name="Wolke 122"/>
              <p:cNvSpPr/>
              <p:nvPr/>
            </p:nvSpPr>
            <p:spPr>
              <a:xfrm>
                <a:off x="4564028" y="1409191"/>
                <a:ext cx="1618871" cy="1218495"/>
              </a:xfrm>
              <a:prstGeom prst="cloud">
                <a:avLst/>
              </a:prstGeom>
              <a:solidFill>
                <a:srgbClr val="FDE3E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24" name="Oval 6"/>
              <p:cNvSpPr/>
              <p:nvPr/>
            </p:nvSpPr>
            <p:spPr>
              <a:xfrm>
                <a:off x="4824766" y="1675466"/>
                <a:ext cx="214146" cy="21049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25" name="Oval 6"/>
              <p:cNvSpPr/>
              <p:nvPr/>
            </p:nvSpPr>
            <p:spPr>
              <a:xfrm>
                <a:off x="4898491" y="2108254"/>
                <a:ext cx="214146" cy="21049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26" name="Oval 6"/>
              <p:cNvSpPr/>
              <p:nvPr/>
            </p:nvSpPr>
            <p:spPr>
              <a:xfrm>
                <a:off x="5198570" y="1817378"/>
                <a:ext cx="214146" cy="21049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27" name="Oval 6"/>
              <p:cNvSpPr/>
              <p:nvPr/>
            </p:nvSpPr>
            <p:spPr>
              <a:xfrm>
                <a:off x="5777343" y="1675466"/>
                <a:ext cx="214146" cy="21049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28" name="Oval 6"/>
              <p:cNvSpPr/>
              <p:nvPr/>
            </p:nvSpPr>
            <p:spPr>
              <a:xfrm>
                <a:off x="5509273" y="2024183"/>
                <a:ext cx="214146" cy="21049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168" name="Textfeld 167"/>
            <p:cNvSpPr txBox="1"/>
            <p:nvPr/>
          </p:nvSpPr>
          <p:spPr>
            <a:xfrm>
              <a:off x="4922238" y="1561229"/>
              <a:ext cx="111601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1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Compute</a:t>
              </a:r>
              <a:r>
                <a:rPr lang="de-DE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Pool</a:t>
              </a:r>
            </a:p>
          </p:txBody>
        </p:sp>
      </p:grpSp>
      <p:grpSp>
        <p:nvGrpSpPr>
          <p:cNvPr id="171" name="Gruppieren 170"/>
          <p:cNvGrpSpPr/>
          <p:nvPr/>
        </p:nvGrpSpPr>
        <p:grpSpPr>
          <a:xfrm>
            <a:off x="7470841" y="1543611"/>
            <a:ext cx="1092196" cy="1042857"/>
            <a:chOff x="7603138" y="1766266"/>
            <a:chExt cx="1092196" cy="1042857"/>
          </a:xfrm>
        </p:grpSpPr>
        <p:grpSp>
          <p:nvGrpSpPr>
            <p:cNvPr id="138" name="Gruppieren 137"/>
            <p:cNvGrpSpPr/>
            <p:nvPr/>
          </p:nvGrpSpPr>
          <p:grpSpPr>
            <a:xfrm>
              <a:off x="7603138" y="2027876"/>
              <a:ext cx="1037951" cy="781247"/>
              <a:chOff x="7039460" y="2418435"/>
              <a:chExt cx="1716082" cy="1291664"/>
            </a:xfrm>
          </p:grpSpPr>
          <p:sp>
            <p:nvSpPr>
              <p:cNvPr id="129" name="Wolke 128"/>
              <p:cNvSpPr/>
              <p:nvPr/>
            </p:nvSpPr>
            <p:spPr>
              <a:xfrm>
                <a:off x="7039460" y="2418435"/>
                <a:ext cx="1716082" cy="1291664"/>
              </a:xfrm>
              <a:prstGeom prst="cloud">
                <a:avLst/>
              </a:prstGeom>
              <a:solidFill>
                <a:srgbClr val="FDE3E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35" name="Rectangle 117"/>
              <p:cNvSpPr/>
              <p:nvPr/>
            </p:nvSpPr>
            <p:spPr>
              <a:xfrm>
                <a:off x="7346820" y="2720490"/>
                <a:ext cx="407085" cy="26498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36" name="Rectangle 117"/>
              <p:cNvSpPr/>
              <p:nvPr/>
            </p:nvSpPr>
            <p:spPr>
              <a:xfrm>
                <a:off x="7518675" y="3125921"/>
                <a:ext cx="407085" cy="26498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37" name="Rectangle 117"/>
              <p:cNvSpPr/>
              <p:nvPr/>
            </p:nvSpPr>
            <p:spPr>
              <a:xfrm>
                <a:off x="8020052" y="2804972"/>
                <a:ext cx="407085" cy="26498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169" name="Textfeld 168"/>
            <p:cNvSpPr txBox="1"/>
            <p:nvPr/>
          </p:nvSpPr>
          <p:spPr>
            <a:xfrm>
              <a:off x="7635428" y="1766266"/>
              <a:ext cx="10599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Memory Pool</a:t>
              </a:r>
            </a:p>
          </p:txBody>
        </p:sp>
      </p:grpSp>
      <p:grpSp>
        <p:nvGrpSpPr>
          <p:cNvPr id="173" name="Gruppieren 172"/>
          <p:cNvGrpSpPr/>
          <p:nvPr/>
        </p:nvGrpSpPr>
        <p:grpSpPr>
          <a:xfrm>
            <a:off x="6386828" y="2780289"/>
            <a:ext cx="1089468" cy="1129262"/>
            <a:chOff x="4428000" y="3883281"/>
            <a:chExt cx="1089468" cy="1129262"/>
          </a:xfrm>
        </p:grpSpPr>
        <p:grpSp>
          <p:nvGrpSpPr>
            <p:cNvPr id="167" name="Gruppieren 166"/>
            <p:cNvGrpSpPr/>
            <p:nvPr/>
          </p:nvGrpSpPr>
          <p:grpSpPr>
            <a:xfrm>
              <a:off x="4428000" y="3883281"/>
              <a:ext cx="1089468" cy="820023"/>
              <a:chOff x="6004303" y="3351821"/>
              <a:chExt cx="1716082" cy="1291664"/>
            </a:xfrm>
          </p:grpSpPr>
          <p:sp>
            <p:nvSpPr>
              <p:cNvPr id="151" name="Wolke 150"/>
              <p:cNvSpPr/>
              <p:nvPr/>
            </p:nvSpPr>
            <p:spPr>
              <a:xfrm>
                <a:off x="6004303" y="3351821"/>
                <a:ext cx="1716082" cy="1291664"/>
              </a:xfrm>
              <a:prstGeom prst="cloud">
                <a:avLst/>
              </a:prstGeom>
              <a:solidFill>
                <a:srgbClr val="FDE3E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46" name="Gruppieren 145"/>
              <p:cNvGrpSpPr/>
              <p:nvPr/>
            </p:nvGrpSpPr>
            <p:grpSpPr>
              <a:xfrm>
                <a:off x="7036257" y="3964908"/>
                <a:ext cx="210279" cy="243323"/>
                <a:chOff x="3279192" y="2832558"/>
                <a:chExt cx="1045458" cy="120974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47" name="Flussdiagramm: Magnetplattenspeicher 146"/>
                <p:cNvSpPr/>
                <p:nvPr/>
              </p:nvSpPr>
              <p:spPr>
                <a:xfrm>
                  <a:off x="3279192" y="2917757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48" name="Flussdiagramm: Magnetplattenspeicher 147"/>
                <p:cNvSpPr/>
                <p:nvPr/>
              </p:nvSpPr>
              <p:spPr>
                <a:xfrm>
                  <a:off x="3627678" y="2832558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49" name="Flussdiagramm: Magnetplattenspeicher 148"/>
                <p:cNvSpPr/>
                <p:nvPr/>
              </p:nvSpPr>
              <p:spPr>
                <a:xfrm>
                  <a:off x="3466425" y="3153399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55" name="Gruppieren 154"/>
              <p:cNvGrpSpPr/>
              <p:nvPr/>
            </p:nvGrpSpPr>
            <p:grpSpPr>
              <a:xfrm>
                <a:off x="6416997" y="4143698"/>
                <a:ext cx="210279" cy="243323"/>
                <a:chOff x="3279192" y="2832558"/>
                <a:chExt cx="1045458" cy="120974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56" name="Flussdiagramm: Magnetplattenspeicher 155"/>
                <p:cNvSpPr/>
                <p:nvPr/>
              </p:nvSpPr>
              <p:spPr>
                <a:xfrm>
                  <a:off x="3279192" y="2917757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57" name="Flussdiagramm: Magnetplattenspeicher 156"/>
                <p:cNvSpPr/>
                <p:nvPr/>
              </p:nvSpPr>
              <p:spPr>
                <a:xfrm>
                  <a:off x="3627678" y="2832558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58" name="Flussdiagramm: Magnetplattenspeicher 157"/>
                <p:cNvSpPr/>
                <p:nvPr/>
              </p:nvSpPr>
              <p:spPr>
                <a:xfrm>
                  <a:off x="3466425" y="3153399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59" name="Gruppieren 158"/>
              <p:cNvGrpSpPr/>
              <p:nvPr/>
            </p:nvGrpSpPr>
            <p:grpSpPr>
              <a:xfrm>
                <a:off x="6508055" y="3770145"/>
                <a:ext cx="210279" cy="243323"/>
                <a:chOff x="3279192" y="2832558"/>
                <a:chExt cx="1045458" cy="120974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60" name="Flussdiagramm: Magnetplattenspeicher 159"/>
                <p:cNvSpPr/>
                <p:nvPr/>
              </p:nvSpPr>
              <p:spPr>
                <a:xfrm>
                  <a:off x="3279192" y="2917757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61" name="Flussdiagramm: Magnetplattenspeicher 160"/>
                <p:cNvSpPr/>
                <p:nvPr/>
              </p:nvSpPr>
              <p:spPr>
                <a:xfrm>
                  <a:off x="3627678" y="2832558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62" name="Flussdiagramm: Magnetplattenspeicher 161"/>
                <p:cNvSpPr/>
                <p:nvPr/>
              </p:nvSpPr>
              <p:spPr>
                <a:xfrm>
                  <a:off x="3466425" y="3153399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63" name="Gruppieren 162"/>
              <p:cNvGrpSpPr/>
              <p:nvPr/>
            </p:nvGrpSpPr>
            <p:grpSpPr>
              <a:xfrm>
                <a:off x="6933730" y="3626393"/>
                <a:ext cx="210279" cy="243323"/>
                <a:chOff x="3279192" y="2832558"/>
                <a:chExt cx="1045458" cy="1209745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64" name="Flussdiagramm: Magnetplattenspeicher 163"/>
                <p:cNvSpPr/>
                <p:nvPr/>
              </p:nvSpPr>
              <p:spPr>
                <a:xfrm>
                  <a:off x="3279192" y="2917757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65" name="Flussdiagramm: Magnetplattenspeicher 164"/>
                <p:cNvSpPr/>
                <p:nvPr/>
              </p:nvSpPr>
              <p:spPr>
                <a:xfrm>
                  <a:off x="3627678" y="2832558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66" name="Flussdiagramm: Magnetplattenspeicher 165"/>
                <p:cNvSpPr/>
                <p:nvPr/>
              </p:nvSpPr>
              <p:spPr>
                <a:xfrm>
                  <a:off x="3466425" y="3153399"/>
                  <a:ext cx="696972" cy="888904"/>
                </a:xfrm>
                <a:prstGeom prst="flowChartMagneticDisk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</p:grpSp>
        <p:sp>
          <p:nvSpPr>
            <p:cNvPr id="170" name="Textfeld 169"/>
            <p:cNvSpPr txBox="1"/>
            <p:nvPr/>
          </p:nvSpPr>
          <p:spPr>
            <a:xfrm>
              <a:off x="4465223" y="4750933"/>
              <a:ext cx="101502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Storage Pool</a:t>
              </a:r>
            </a:p>
          </p:txBody>
        </p:sp>
      </p:grpSp>
      <p:cxnSp>
        <p:nvCxnSpPr>
          <p:cNvPr id="174" name="Straight Connector 121"/>
          <p:cNvCxnSpPr>
            <a:stCxn id="123" idx="0"/>
            <a:endCxn id="129" idx="2"/>
          </p:cNvCxnSpPr>
          <p:nvPr/>
        </p:nvCxnSpPr>
        <p:spPr>
          <a:xfrm>
            <a:off x="6524495" y="2119267"/>
            <a:ext cx="949566" cy="76578"/>
          </a:xfrm>
          <a:prstGeom prst="line">
            <a:avLst/>
          </a:prstGeom>
          <a:ln w="1905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21"/>
          <p:cNvCxnSpPr>
            <a:endCxn id="151" idx="3"/>
          </p:cNvCxnSpPr>
          <p:nvPr/>
        </p:nvCxnSpPr>
        <p:spPr>
          <a:xfrm flipH="1">
            <a:off x="6931562" y="2157335"/>
            <a:ext cx="33840" cy="669840"/>
          </a:xfrm>
          <a:prstGeom prst="line">
            <a:avLst/>
          </a:prstGeom>
          <a:ln w="1905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7519516F-2C9B-D6DC-EE69-444C2A3DE06F}"/>
              </a:ext>
            </a:extLst>
          </p:cNvPr>
          <p:cNvSpPr txBox="1"/>
          <p:nvPr/>
        </p:nvSpPr>
        <p:spPr>
          <a:xfrm>
            <a:off x="906055" y="2028969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CEB1F33-D226-56AC-6533-EB76B6FEFA7F}"/>
              </a:ext>
            </a:extLst>
          </p:cNvPr>
          <p:cNvSpPr txBox="1"/>
          <p:nvPr/>
        </p:nvSpPr>
        <p:spPr>
          <a:xfrm>
            <a:off x="898064" y="2738702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FCD55CF-B88F-3166-9477-473866DC5C32}"/>
              </a:ext>
            </a:extLst>
          </p:cNvPr>
          <p:cNvSpPr txBox="1"/>
          <p:nvPr/>
        </p:nvSpPr>
        <p:spPr>
          <a:xfrm>
            <a:off x="1618449" y="2021349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4CEB954-8520-C9A3-A430-E8C908CD1BAA}"/>
              </a:ext>
            </a:extLst>
          </p:cNvPr>
          <p:cNvSpPr txBox="1"/>
          <p:nvPr/>
        </p:nvSpPr>
        <p:spPr>
          <a:xfrm>
            <a:off x="1614639" y="2737337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C082CDDC-5FFB-48C1-2F1B-0BB682F8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00" y="918992"/>
            <a:ext cx="4248000" cy="3780000"/>
          </a:xfrm>
        </p:spPr>
        <p:txBody>
          <a:bodyPr/>
          <a:lstStyle/>
          <a:p>
            <a:pPr algn="ctr"/>
            <a:r>
              <a:rPr lang="en-GB" noProof="0" dirty="0"/>
              <a:t>Monolithic System Architecture</a:t>
            </a:r>
          </a:p>
          <a:p>
            <a:endParaRPr lang="en-GB" noProof="0" dirty="0"/>
          </a:p>
          <a:p>
            <a:pPr lvl="1"/>
            <a:endParaRPr lang="en-GB" noProof="0" dirty="0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81AC53F-8259-E33E-485E-11E5428669C1}"/>
              </a:ext>
            </a:extLst>
          </p:cNvPr>
          <p:cNvSpPr txBox="1">
            <a:spLocks/>
          </p:cNvSpPr>
          <p:nvPr/>
        </p:nvSpPr>
        <p:spPr>
          <a:xfrm>
            <a:off x="4707446" y="928675"/>
            <a:ext cx="4248000" cy="3780000"/>
          </a:xfrm>
          <a:prstGeom prst="rect">
            <a:avLst/>
          </a:prstGeom>
          <a:ln>
            <a:noFill/>
          </a:ln>
        </p:spPr>
        <p:txBody>
          <a:bodyPr lIns="0"/>
          <a:lstStyle>
            <a:lvl1pPr marL="88900" indent="-88900" algn="l" defTabSz="685800" rtl="0" eaLnBrk="1" latinLnBrk="0" hangingPunct="1">
              <a:lnSpc>
                <a:spcPts val="2200"/>
              </a:lnSpc>
              <a:spcBef>
                <a:spcPts val="750"/>
              </a:spcBef>
              <a:buFont typeface="Muli" panose="00000500000000000000" pitchFamily="2" charset="0"/>
              <a:buChar char=" "/>
              <a:defRPr sz="1500" b="1" i="0" kern="120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▪"/>
              <a:defRPr sz="1300" kern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Muli" panose="00000500000000000000" pitchFamily="2" charset="0"/>
              <a:buChar char="-"/>
              <a:tabLst>
                <a:tab pos="4124325" algn="l"/>
              </a:tabLst>
              <a:defRPr sz="1200" kern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Disaggregated System Architecture</a:t>
            </a:r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93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F338626-2C2E-6DA8-6106-294E6C385B26}"/>
              </a:ext>
            </a:extLst>
          </p:cNvPr>
          <p:cNvSpPr/>
          <p:nvPr/>
        </p:nvSpPr>
        <p:spPr>
          <a:xfrm>
            <a:off x="5812316" y="3766485"/>
            <a:ext cx="1017190" cy="902567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DB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Unit(s)</a:t>
            </a:r>
          </a:p>
        </p:txBody>
      </p:sp>
      <p:sp>
        <p:nvSpPr>
          <p:cNvPr id="163" name="Rechteck: abgerundete Ecken 162">
            <a:extLst>
              <a:ext uri="{FF2B5EF4-FFF2-40B4-BE49-F238E27FC236}">
                <a16:creationId xmlns:a16="http://schemas.microsoft.com/office/drawing/2014/main" id="{D2E7BFB9-5FAB-4A1A-721E-65454A0A6D55}"/>
              </a:ext>
            </a:extLst>
          </p:cNvPr>
          <p:cNvSpPr/>
          <p:nvPr/>
        </p:nvSpPr>
        <p:spPr>
          <a:xfrm>
            <a:off x="5812316" y="3766485"/>
            <a:ext cx="1017190" cy="902567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76200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DB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Unit(s)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A2D5E3-0ADE-D056-A4E8-0DDBF56034D8}"/>
              </a:ext>
            </a:extLst>
          </p:cNvPr>
          <p:cNvSpPr/>
          <p:nvPr/>
        </p:nvSpPr>
        <p:spPr>
          <a:xfrm>
            <a:off x="2103200" y="774031"/>
            <a:ext cx="1017190" cy="9025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Parser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/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Optimizer</a:t>
            </a:r>
          </a:p>
        </p:txBody>
      </p:sp>
      <p:sp>
        <p:nvSpPr>
          <p:cNvPr id="164" name="Rechteck: abgerundete Ecken 163">
            <a:extLst>
              <a:ext uri="{FF2B5EF4-FFF2-40B4-BE49-F238E27FC236}">
                <a16:creationId xmlns:a16="http://schemas.microsoft.com/office/drawing/2014/main" id="{4D5B1C1F-3D23-84DF-750D-17AFF715A0B6}"/>
              </a:ext>
            </a:extLst>
          </p:cNvPr>
          <p:cNvSpPr/>
          <p:nvPr/>
        </p:nvSpPr>
        <p:spPr>
          <a:xfrm>
            <a:off x="2103993" y="774031"/>
            <a:ext cx="1017190" cy="9025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solidFill>
              <a:schemeClr val="accent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Parser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/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Optimizer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D8739C6-7EB5-D1AF-EDFF-E868C636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System Architecture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F2059B5-1E2C-3BE0-B84E-B46BB643E895}"/>
              </a:ext>
            </a:extLst>
          </p:cNvPr>
          <p:cNvSpPr/>
          <p:nvPr/>
        </p:nvSpPr>
        <p:spPr>
          <a:xfrm>
            <a:off x="3957759" y="773225"/>
            <a:ext cx="1017190" cy="2574956"/>
          </a:xfrm>
          <a:prstGeom prst="roundRect">
            <a:avLst/>
          </a:prstGeom>
          <a:solidFill>
            <a:srgbClr val="97C6FF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Message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Broker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1AF141D-C805-8A28-725B-FA9B5D8DC3D4}"/>
              </a:ext>
            </a:extLst>
          </p:cNvPr>
          <p:cNvSpPr/>
          <p:nvPr/>
        </p:nvSpPr>
        <p:spPr>
          <a:xfrm>
            <a:off x="5812317" y="768018"/>
            <a:ext cx="1017189" cy="693414"/>
          </a:xfrm>
          <a:prstGeom prst="roundRect">
            <a:avLst/>
          </a:prstGeom>
          <a:solidFill>
            <a:srgbClr val="FFC7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/>
                </a:solidFill>
              </a:rPr>
              <a:t>Compute</a:t>
            </a:r>
            <a:endParaRPr lang="de-DE" sz="1200" dirty="0">
              <a:solidFill>
                <a:schemeClr val="tx2"/>
              </a:solidFill>
            </a:endParaRP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Unit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2771CFDC-E8AA-3E3B-B634-56A01DC20C43}"/>
              </a:ext>
            </a:extLst>
          </p:cNvPr>
          <p:cNvSpPr/>
          <p:nvPr/>
        </p:nvSpPr>
        <p:spPr>
          <a:xfrm>
            <a:off x="7522787" y="768114"/>
            <a:ext cx="1017190" cy="914400"/>
          </a:xfrm>
          <a:prstGeom prst="roundRect">
            <a:avLst/>
          </a:prstGeom>
          <a:solidFill>
            <a:srgbClr val="C85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Memory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Unit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5130FD5B-C363-E34D-B332-97DF7269F5DA}"/>
              </a:ext>
            </a:extLst>
          </p:cNvPr>
          <p:cNvSpPr/>
          <p:nvPr/>
        </p:nvSpPr>
        <p:spPr>
          <a:xfrm>
            <a:off x="5812317" y="1714061"/>
            <a:ext cx="1017189" cy="693414"/>
          </a:xfrm>
          <a:prstGeom prst="roundRect">
            <a:avLst/>
          </a:prstGeom>
          <a:solidFill>
            <a:srgbClr val="FFC7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/>
                </a:solidFill>
              </a:rPr>
              <a:t>Compute</a:t>
            </a:r>
            <a:endParaRPr lang="de-DE" sz="1200" dirty="0">
              <a:solidFill>
                <a:schemeClr val="tx2"/>
              </a:solidFill>
            </a:endParaRP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Unit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34895DF-0D74-AE55-7295-FC38EF7CBC76}"/>
              </a:ext>
            </a:extLst>
          </p:cNvPr>
          <p:cNvSpPr/>
          <p:nvPr/>
        </p:nvSpPr>
        <p:spPr>
          <a:xfrm>
            <a:off x="5812318" y="2652352"/>
            <a:ext cx="1017189" cy="692607"/>
          </a:xfrm>
          <a:prstGeom prst="roundRect">
            <a:avLst/>
          </a:prstGeom>
          <a:solidFill>
            <a:srgbClr val="FFC7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/>
                </a:solidFill>
              </a:rPr>
              <a:t>Compute</a:t>
            </a:r>
            <a:endParaRPr lang="de-DE" sz="1200" dirty="0">
              <a:solidFill>
                <a:schemeClr val="tx2"/>
              </a:solidFill>
            </a:endParaRP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Unit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F68180A6-4AFB-8ED8-EF8E-40B450EAEBFB}"/>
              </a:ext>
            </a:extLst>
          </p:cNvPr>
          <p:cNvSpPr/>
          <p:nvPr/>
        </p:nvSpPr>
        <p:spPr>
          <a:xfrm>
            <a:off x="7518184" y="2430559"/>
            <a:ext cx="1017190" cy="914400"/>
          </a:xfrm>
          <a:prstGeom prst="roundRect">
            <a:avLst/>
          </a:prstGeom>
          <a:solidFill>
            <a:srgbClr val="C85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Memory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Unit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9C2F25B-D02F-99F3-6D7F-EF017890DB9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829506" y="1114725"/>
            <a:ext cx="693281" cy="1105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7C97824A-3665-02E1-9908-E195CBAFEEAA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6829506" y="1225314"/>
            <a:ext cx="693281" cy="8354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99D002A1-42E5-749F-A46A-E742241F5E4A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flipV="1">
            <a:off x="6829507" y="1225314"/>
            <a:ext cx="693280" cy="17733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4EBA8613-0CD0-3C3C-EBB2-8D496B7E4837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6829507" y="2887759"/>
            <a:ext cx="688677" cy="1108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416E7FF-3FE4-46CC-76B1-14B5B2489ECC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6829506" y="2060768"/>
            <a:ext cx="688678" cy="8269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7A102D15-68B2-B3B8-997D-2197DEE5767E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6829506" y="1114725"/>
            <a:ext cx="688678" cy="17730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FE6DE27E-7AFA-9E7E-09E2-9B99E03CDF04}"/>
              </a:ext>
            </a:extLst>
          </p:cNvPr>
          <p:cNvCxnSpPr>
            <a:cxnSpLocks/>
            <a:stCxn id="12" idx="0"/>
            <a:endCxn id="9" idx="2"/>
          </p:cNvCxnSpPr>
          <p:nvPr/>
        </p:nvCxnSpPr>
        <p:spPr>
          <a:xfrm flipV="1">
            <a:off x="8026779" y="1682514"/>
            <a:ext cx="4603" cy="7480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F689B451-E33B-C779-4183-8CBDD23DFFF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972304" y="2998655"/>
            <a:ext cx="840014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E83A3D37-855E-F51B-EB79-7C5772DCD960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4974949" y="2060703"/>
            <a:ext cx="837368" cy="65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B02BFF67-3746-1A67-DE51-0B2DDFE9D36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974949" y="1114725"/>
            <a:ext cx="837368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hteck: abgerundete Ecken 61">
            <a:extLst>
              <a:ext uri="{FF2B5EF4-FFF2-40B4-BE49-F238E27FC236}">
                <a16:creationId xmlns:a16="http://schemas.microsoft.com/office/drawing/2014/main" id="{553DB52E-2F8B-4BEF-684E-4400327956E1}"/>
              </a:ext>
            </a:extLst>
          </p:cNvPr>
          <p:cNvSpPr/>
          <p:nvPr/>
        </p:nvSpPr>
        <p:spPr>
          <a:xfrm>
            <a:off x="2103200" y="2446421"/>
            <a:ext cx="1017190" cy="902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Monitor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Unit</a:t>
            </a: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1A952C20-FE44-A62A-0884-90EF8CE6FB1B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3120390" y="2897705"/>
            <a:ext cx="842643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hteck: abgerundete Ecken 66">
            <a:extLst>
              <a:ext uri="{FF2B5EF4-FFF2-40B4-BE49-F238E27FC236}">
                <a16:creationId xmlns:a16="http://schemas.microsoft.com/office/drawing/2014/main" id="{113FDB4C-39AE-1D21-8A06-D8BB4D66281E}"/>
              </a:ext>
            </a:extLst>
          </p:cNvPr>
          <p:cNvSpPr/>
          <p:nvPr/>
        </p:nvSpPr>
        <p:spPr>
          <a:xfrm>
            <a:off x="392730" y="2446421"/>
            <a:ext cx="1017190" cy="902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Frontend 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/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Demo</a:t>
            </a: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1B15AA52-524E-F29C-AE75-B7DACA0FB69A}"/>
              </a:ext>
            </a:extLst>
          </p:cNvPr>
          <p:cNvCxnSpPr>
            <a:cxnSpLocks/>
            <a:stCxn id="67" idx="3"/>
            <a:endCxn id="62" idx="1"/>
          </p:cNvCxnSpPr>
          <p:nvPr/>
        </p:nvCxnSpPr>
        <p:spPr>
          <a:xfrm>
            <a:off x="1409920" y="2897705"/>
            <a:ext cx="693280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8C270479-B744-84A1-47F9-B39F9736DCDF}"/>
              </a:ext>
            </a:extLst>
          </p:cNvPr>
          <p:cNvSpPr/>
          <p:nvPr/>
        </p:nvSpPr>
        <p:spPr>
          <a:xfrm>
            <a:off x="3963033" y="3766485"/>
            <a:ext cx="1017190" cy="9025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/>
                </a:solidFill>
              </a:rPr>
              <a:t>Meta</a:t>
            </a:r>
            <a:endParaRPr lang="de-DE" sz="1200" dirty="0">
              <a:solidFill>
                <a:schemeClr val="tx2"/>
              </a:solidFill>
            </a:endParaRP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Unit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6FEE4658-CE1B-5C82-95A0-576FD11D7A6B}"/>
              </a:ext>
            </a:extLst>
          </p:cNvPr>
          <p:cNvCxnSpPr>
            <a:cxnSpLocks/>
            <a:stCxn id="6" idx="2"/>
            <a:endCxn id="77" idx="0"/>
          </p:cNvCxnSpPr>
          <p:nvPr/>
        </p:nvCxnSpPr>
        <p:spPr>
          <a:xfrm>
            <a:off x="4466354" y="3348181"/>
            <a:ext cx="5274" cy="418304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09DC4448-E595-8E9F-ABC4-8F58C6C981D7}"/>
              </a:ext>
            </a:extLst>
          </p:cNvPr>
          <p:cNvSpPr/>
          <p:nvPr/>
        </p:nvSpPr>
        <p:spPr>
          <a:xfrm>
            <a:off x="392730" y="774031"/>
            <a:ext cx="1017190" cy="9025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Query</a:t>
            </a:r>
          </a:p>
          <a:p>
            <a:pPr algn="ctr"/>
            <a:r>
              <a:rPr lang="de-DE" sz="1200" dirty="0">
                <a:solidFill>
                  <a:schemeClr val="tx2"/>
                </a:solidFill>
              </a:rPr>
              <a:t>Input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5C3767C-20F9-B68C-6679-327615225D96}"/>
              </a:ext>
            </a:extLst>
          </p:cNvPr>
          <p:cNvSpPr txBox="1"/>
          <p:nvPr/>
        </p:nvSpPr>
        <p:spPr>
          <a:xfrm>
            <a:off x="180000" y="3833835"/>
            <a:ext cx="276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GB" sz="12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12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TCP-Messaging</a:t>
            </a:r>
          </a:p>
          <a:p>
            <a:pPr algn="l"/>
            <a:r>
              <a:rPr lang="en-GB" sz="12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(RDMA-)Data-Transport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0CD2205-E1E0-84FC-35B7-CC0C2A7263B3}"/>
              </a:ext>
            </a:extLst>
          </p:cNvPr>
          <p:cNvCxnSpPr>
            <a:cxnSpLocks/>
          </p:cNvCxnSpPr>
          <p:nvPr/>
        </p:nvCxnSpPr>
        <p:spPr>
          <a:xfrm>
            <a:off x="284748" y="4170948"/>
            <a:ext cx="286231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17DBB74-853D-2722-7803-66745F12BBD0}"/>
              </a:ext>
            </a:extLst>
          </p:cNvPr>
          <p:cNvCxnSpPr>
            <a:cxnSpLocks/>
          </p:cNvCxnSpPr>
          <p:nvPr/>
        </p:nvCxnSpPr>
        <p:spPr>
          <a:xfrm>
            <a:off x="284748" y="4367462"/>
            <a:ext cx="2862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D6D704E4-DD17-D512-42FB-6D79C3501ED8}"/>
              </a:ext>
            </a:extLst>
          </p:cNvPr>
          <p:cNvCxnSpPr>
            <a:cxnSpLocks/>
          </p:cNvCxnSpPr>
          <p:nvPr/>
        </p:nvCxnSpPr>
        <p:spPr>
          <a:xfrm>
            <a:off x="4945380" y="3271963"/>
            <a:ext cx="902970" cy="56187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8145844-93A0-3383-0B6E-0E6D92F683D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120390" y="1225314"/>
            <a:ext cx="847285" cy="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B8EF1EC9-0E4A-9B8B-97C8-35296E59DFB6}"/>
              </a:ext>
            </a:extLst>
          </p:cNvPr>
          <p:cNvCxnSpPr>
            <a:cxnSpLocks/>
            <a:stCxn id="84" idx="3"/>
            <a:endCxn id="7" idx="1"/>
          </p:cNvCxnSpPr>
          <p:nvPr/>
        </p:nvCxnSpPr>
        <p:spPr>
          <a:xfrm>
            <a:off x="1409920" y="1225315"/>
            <a:ext cx="693280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2D8CE21E-46D0-74FC-C713-E0E4AADED9C2}"/>
              </a:ext>
            </a:extLst>
          </p:cNvPr>
          <p:cNvCxnSpPr>
            <a:cxnSpLocks/>
          </p:cNvCxnSpPr>
          <p:nvPr/>
        </p:nvCxnSpPr>
        <p:spPr>
          <a:xfrm>
            <a:off x="4972304" y="2544128"/>
            <a:ext cx="2545880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4289FAD2-2E4C-2338-AA70-E01D44983320}"/>
              </a:ext>
            </a:extLst>
          </p:cNvPr>
          <p:cNvCxnSpPr>
            <a:cxnSpLocks/>
          </p:cNvCxnSpPr>
          <p:nvPr/>
        </p:nvCxnSpPr>
        <p:spPr>
          <a:xfrm>
            <a:off x="4967701" y="1605838"/>
            <a:ext cx="2579909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10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3" grpId="0" animBg="1"/>
      <p:bldP spid="7" grpId="0" animBg="1"/>
      <p:bldP spid="16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62" grpId="0" animBg="1"/>
      <p:bldP spid="67" grpId="0" animBg="1"/>
      <p:bldP spid="77" grpId="0" animBg="1"/>
      <p:bldP spid="8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5D579E7-BC6E-2436-0727-CD7F9ADF2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DB-Units</a:t>
            </a:r>
          </a:p>
          <a:p>
            <a:endParaRPr lang="en-GB" noProof="0" dirty="0"/>
          </a:p>
          <a:p>
            <a:pPr lvl="1"/>
            <a:r>
              <a:rPr lang="en-GB" noProof="0" dirty="0"/>
              <a:t>Required:</a:t>
            </a:r>
          </a:p>
          <a:p>
            <a:pPr lvl="1"/>
            <a:endParaRPr lang="en-GB" noProof="0" dirty="0"/>
          </a:p>
          <a:p>
            <a:pPr lvl="2"/>
            <a:r>
              <a:rPr lang="en-GB" dirty="0"/>
              <a:t>Working together as a group</a:t>
            </a:r>
          </a:p>
          <a:p>
            <a:pPr lvl="2"/>
            <a:endParaRPr lang="en-GB" noProof="0" dirty="0"/>
          </a:p>
          <a:p>
            <a:pPr lvl="2"/>
            <a:r>
              <a:rPr lang="en-GB" noProof="0" dirty="0"/>
              <a:t>Interest in exploring different DBMS</a:t>
            </a:r>
          </a:p>
          <a:p>
            <a:pPr lvl="2"/>
            <a:endParaRPr lang="en-GB" noProof="0" dirty="0"/>
          </a:p>
          <a:p>
            <a:pPr lvl="2"/>
            <a:r>
              <a:rPr lang="en-GB" dirty="0"/>
              <a:t>Programming in Python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080D91-B05F-43B4-ABBD-07FD486800B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noProof="0" dirty="0"/>
              <a:t>C++/Rust4DB (Optimizer)</a:t>
            </a:r>
          </a:p>
          <a:p>
            <a:endParaRPr lang="en-GB" noProof="0" dirty="0"/>
          </a:p>
          <a:p>
            <a:pPr lvl="1"/>
            <a:r>
              <a:rPr lang="en-GB" dirty="0"/>
              <a:t>Required:</a:t>
            </a:r>
          </a:p>
          <a:p>
            <a:pPr lvl="1"/>
            <a:endParaRPr lang="en-GB" dirty="0"/>
          </a:p>
          <a:p>
            <a:pPr lvl="2"/>
            <a:r>
              <a:rPr lang="en-GB" dirty="0"/>
              <a:t>Working together as a group</a:t>
            </a:r>
          </a:p>
          <a:p>
            <a:pPr lvl="2"/>
            <a:endParaRPr lang="en-GB" noProof="0" dirty="0"/>
          </a:p>
          <a:p>
            <a:pPr lvl="2"/>
            <a:r>
              <a:rPr lang="en-GB" noProof="0" dirty="0"/>
              <a:t>Interest in deep-diving DBMS optimizer</a:t>
            </a:r>
          </a:p>
          <a:p>
            <a:pPr lvl="2"/>
            <a:endParaRPr lang="en-GB" noProof="0" dirty="0"/>
          </a:p>
          <a:p>
            <a:pPr lvl="2"/>
            <a:r>
              <a:rPr lang="en-GB" dirty="0"/>
              <a:t>Programming in C++/Rust</a:t>
            </a:r>
            <a:endParaRPr lang="en-GB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6EDB42A-4B50-A383-A86B-B4D67F6D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Projects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C23348B-DA64-A479-F4CE-BBE9B5DC141C}"/>
              </a:ext>
            </a:extLst>
          </p:cNvPr>
          <p:cNvCxnSpPr>
            <a:cxnSpLocks/>
          </p:cNvCxnSpPr>
          <p:nvPr/>
        </p:nvCxnSpPr>
        <p:spPr>
          <a:xfrm>
            <a:off x="4572000" y="994410"/>
            <a:ext cx="0" cy="362052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513DF787-9A31-6074-BF22-4E3516C83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4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81A31D3-A2CD-57DC-3A0B-8E6B6AB41E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DB-Units</a:t>
            </a:r>
          </a:p>
        </p:txBody>
      </p:sp>
    </p:spTree>
    <p:extLst>
      <p:ext uri="{BB962C8B-B14F-4D97-AF65-F5344CB8AC3E}">
        <p14:creationId xmlns:p14="http://schemas.microsoft.com/office/powerpoint/2010/main" val="267405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639D158-C3AB-9A84-428D-BB1A3A235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773" y="919163"/>
            <a:ext cx="7843840" cy="3779837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 dirty="0">
                <a:solidFill>
                  <a:schemeClr val="tx2"/>
                </a:solidFill>
              </a:rPr>
              <a:t>DB-Unit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B8939FF-7BAE-1F69-7C15-96D901B58947}"/>
              </a:ext>
            </a:extLst>
          </p:cNvPr>
          <p:cNvSpPr/>
          <p:nvPr/>
        </p:nvSpPr>
        <p:spPr>
          <a:xfrm>
            <a:off x="5006340" y="1775463"/>
            <a:ext cx="3714750" cy="20040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tx2"/>
                </a:solidFill>
              </a:rPr>
              <a:t>Specialized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F38D013-747C-E4CD-DC20-8263CFB9E081}"/>
              </a:ext>
            </a:extLst>
          </p:cNvPr>
          <p:cNvSpPr/>
          <p:nvPr/>
        </p:nvSpPr>
        <p:spPr>
          <a:xfrm>
            <a:off x="1116962" y="1775463"/>
            <a:ext cx="3881758" cy="200405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tx2"/>
                </a:solidFill>
              </a:rPr>
              <a:t>General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493F2C8-019B-E5A3-4F0B-A8441E0E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Details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65933278-5D3E-3A5A-0AE2-B73FC3DDA0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79387" y="2809082"/>
            <a:ext cx="941386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CF6CC1DD-5632-F47E-F8D2-3E7F1445B87F}"/>
              </a:ext>
            </a:extLst>
          </p:cNvPr>
          <p:cNvSpPr/>
          <p:nvPr/>
        </p:nvSpPr>
        <p:spPr>
          <a:xfrm>
            <a:off x="1120773" y="2056052"/>
            <a:ext cx="1180467" cy="150605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TCP-Connect</a:t>
            </a:r>
          </a:p>
          <a:p>
            <a:pPr algn="ctr"/>
            <a:r>
              <a:rPr lang="de-DE" dirty="0"/>
              <a:t>(</a:t>
            </a:r>
            <a:r>
              <a:rPr lang="de-DE" dirty="0" err="1"/>
              <a:t>Protobuf</a:t>
            </a:r>
            <a:r>
              <a:rPr lang="de-DE" dirty="0"/>
              <a:t>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A8E092DC-A9DB-00C4-ED23-7D93F584CC12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301240" y="2809080"/>
            <a:ext cx="2701290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DC1D6F51-3CE8-9592-6B03-3DA7AE0C8D24}"/>
              </a:ext>
            </a:extLst>
          </p:cNvPr>
          <p:cNvSpPr txBox="1"/>
          <p:nvPr/>
        </p:nvSpPr>
        <p:spPr>
          <a:xfrm>
            <a:off x="4530090" y="2529840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SQL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3A9F7C9-8304-D590-48D6-353C6ED84F3D}"/>
              </a:ext>
            </a:extLst>
          </p:cNvPr>
          <p:cNvSpPr/>
          <p:nvPr/>
        </p:nvSpPr>
        <p:spPr>
          <a:xfrm>
            <a:off x="5002530" y="2056051"/>
            <a:ext cx="1180467" cy="150605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Database Adapter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40E7BC7-E883-CAE0-DC8E-D2BD310A96E1}"/>
              </a:ext>
            </a:extLst>
          </p:cNvPr>
          <p:cNvSpPr/>
          <p:nvPr/>
        </p:nvSpPr>
        <p:spPr>
          <a:xfrm>
            <a:off x="6943408" y="2056049"/>
            <a:ext cx="1180467" cy="15060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DBMS </a:t>
            </a:r>
          </a:p>
          <a:p>
            <a:pPr algn="ctr"/>
            <a:r>
              <a:rPr lang="de-DE" dirty="0"/>
              <a:t>(e.g. </a:t>
            </a:r>
            <a:r>
              <a:rPr lang="de-DE" dirty="0" err="1"/>
              <a:t>DuckDB</a:t>
            </a:r>
            <a:r>
              <a:rPr lang="de-DE" dirty="0"/>
              <a:t>)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9DBA2A6-F80E-3AF7-7C0B-3D066F1C3AFE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6182997" y="2809078"/>
            <a:ext cx="760411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Grafik 22" descr="Datenbank mit einfarbiger Füllung">
            <a:extLst>
              <a:ext uri="{FF2B5EF4-FFF2-40B4-BE49-F238E27FC236}">
                <a16:creationId xmlns:a16="http://schemas.microsoft.com/office/drawing/2014/main" id="{81B3BC32-715E-3F43-640E-4B5CBABCD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4794" y="2351877"/>
            <a:ext cx="914400" cy="91440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EB60CD26-5303-0532-231A-71B83118AEF1}"/>
              </a:ext>
            </a:extLst>
          </p:cNvPr>
          <p:cNvSpPr txBox="1"/>
          <p:nvPr/>
        </p:nvSpPr>
        <p:spPr>
          <a:xfrm>
            <a:off x="6469598" y="2529839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SQL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6310B64-7747-6A45-2B7C-43ED1910AB66}"/>
              </a:ext>
            </a:extLst>
          </p:cNvPr>
          <p:cNvSpPr txBox="1"/>
          <p:nvPr/>
        </p:nvSpPr>
        <p:spPr>
          <a:xfrm>
            <a:off x="2301239" y="2576005"/>
            <a:ext cx="787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PB-</a:t>
            </a:r>
          </a:p>
          <a:p>
            <a:pPr algn="ctr"/>
            <a:r>
              <a:rPr lang="de-DE" sz="1200" dirty="0"/>
              <a:t>Package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61804A2-0C02-BBD6-E884-5C910D25673D}"/>
              </a:ext>
            </a:extLst>
          </p:cNvPr>
          <p:cNvCxnSpPr>
            <a:cxnSpLocks/>
          </p:cNvCxnSpPr>
          <p:nvPr/>
        </p:nvCxnSpPr>
        <p:spPr>
          <a:xfrm flipV="1">
            <a:off x="2297430" y="2809075"/>
            <a:ext cx="760411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DBBCC92-155B-4A34-0D03-747CE3D8BFD2}"/>
              </a:ext>
            </a:extLst>
          </p:cNvPr>
          <p:cNvCxnSpPr>
            <a:cxnSpLocks/>
          </p:cNvCxnSpPr>
          <p:nvPr/>
        </p:nvCxnSpPr>
        <p:spPr>
          <a:xfrm flipV="1">
            <a:off x="4245929" y="2809073"/>
            <a:ext cx="760411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11FE1ED1-4A6C-DE54-F3DC-B8C3FD717CDB}"/>
              </a:ext>
            </a:extLst>
          </p:cNvPr>
          <p:cNvSpPr/>
          <p:nvPr/>
        </p:nvSpPr>
        <p:spPr>
          <a:xfrm>
            <a:off x="3061651" y="2056050"/>
            <a:ext cx="1180467" cy="150605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Translation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03AAD54-940A-E69E-B088-3DED90526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98BBD91-1187-F5DD-960D-250CF6321A9D}"/>
              </a:ext>
            </a:extLst>
          </p:cNvPr>
          <p:cNvSpPr txBox="1"/>
          <p:nvPr/>
        </p:nvSpPr>
        <p:spPr>
          <a:xfrm>
            <a:off x="207374" y="2571750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PB-</a:t>
            </a:r>
          </a:p>
          <a:p>
            <a:pPr algn="ctr"/>
            <a:r>
              <a:rPr lang="de-DE" sz="1200" dirty="0"/>
              <a:t>Packages</a:t>
            </a:r>
          </a:p>
        </p:txBody>
      </p:sp>
    </p:spTree>
    <p:extLst>
      <p:ext uri="{BB962C8B-B14F-4D97-AF65-F5344CB8AC3E}">
        <p14:creationId xmlns:p14="http://schemas.microsoft.com/office/powerpoint/2010/main" val="58093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8" grpId="0" animBg="1"/>
      <p:bldP spid="9" grpId="0" animBg="1"/>
      <p:bldP spid="14" grpId="0"/>
      <p:bldP spid="15" grpId="0" animBg="1"/>
      <p:bldP spid="16" grpId="0" animBg="1"/>
      <p:bldP spid="24" grpId="0"/>
      <p:bldP spid="27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BC04587-A694-8840-FBD1-9821564EE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Basic:</a:t>
            </a:r>
          </a:p>
          <a:p>
            <a:pPr lvl="1"/>
            <a:r>
              <a:rPr lang="en-GB" noProof="0" dirty="0"/>
              <a:t>TCP-Connect  (</a:t>
            </a:r>
            <a:r>
              <a:rPr lang="en-GB" noProof="0" dirty="0" err="1"/>
              <a:t>Protobuf</a:t>
            </a:r>
            <a:r>
              <a:rPr lang="en-GB" noProof="0" dirty="0"/>
              <a:t>) </a:t>
            </a:r>
          </a:p>
          <a:p>
            <a:pPr lvl="1"/>
            <a:r>
              <a:rPr lang="en-GB" noProof="0" dirty="0"/>
              <a:t>Database Adapter for N different DBMS (N &gt;= Participants/2)</a:t>
            </a:r>
          </a:p>
          <a:p>
            <a:pPr lvl="1"/>
            <a:r>
              <a:rPr lang="en-GB" noProof="0" dirty="0"/>
              <a:t>For a given PB-Package containing an SQL-Query, return the results from the DBMS </a:t>
            </a:r>
          </a:p>
          <a:p>
            <a:r>
              <a:rPr lang="en-GB" noProof="0" dirty="0"/>
              <a:t>Intermediate:</a:t>
            </a:r>
          </a:p>
          <a:p>
            <a:pPr lvl="1"/>
            <a:r>
              <a:rPr lang="en-GB" noProof="0" dirty="0"/>
              <a:t>Translation from PB-Operator-Package into SQL</a:t>
            </a:r>
          </a:p>
          <a:p>
            <a:pPr lvl="1"/>
            <a:r>
              <a:rPr lang="en-GB" dirty="0"/>
              <a:t>Easy configuration of DB-Unit</a:t>
            </a:r>
            <a:endParaRPr lang="en-GB" noProof="0" dirty="0"/>
          </a:p>
          <a:p>
            <a:r>
              <a:rPr lang="en-GB" noProof="0" dirty="0"/>
              <a:t>Advanced:</a:t>
            </a:r>
          </a:p>
          <a:p>
            <a:pPr lvl="1"/>
            <a:r>
              <a:rPr lang="en-GB" dirty="0"/>
              <a:t>Exposing information about available data</a:t>
            </a:r>
          </a:p>
          <a:p>
            <a:pPr lvl="1"/>
            <a:r>
              <a:rPr lang="en-GB" dirty="0"/>
              <a:t>Sanity check arriving PB-Packages</a:t>
            </a:r>
          </a:p>
          <a:p>
            <a:pPr lvl="1"/>
            <a:r>
              <a:rPr lang="en-GB" noProof="0" dirty="0"/>
              <a:t>Write results to file instead of back via TCP</a:t>
            </a:r>
          </a:p>
          <a:p>
            <a:pPr lvl="1"/>
            <a:r>
              <a:rPr lang="en-GB" dirty="0"/>
              <a:t>Exposing performance measurements for Queries</a:t>
            </a:r>
          </a:p>
          <a:p>
            <a:pPr lvl="1"/>
            <a:r>
              <a:rPr lang="en-GB" noProof="0" dirty="0"/>
              <a:t>Your own creative ideas…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975F95-C488-5C8C-8A19-D02F5F92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Expectations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F312E6F-A2A3-0BE5-DD65-5CD208C1F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90" y="2602832"/>
            <a:ext cx="4281110" cy="209616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2D54F77-A7EC-8B73-2D65-0EC82B58C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8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304C7A-31FD-34AF-8741-20B1DADDB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„Heavy“ Standard DBMS</a:t>
            </a:r>
          </a:p>
          <a:p>
            <a:endParaRPr lang="de-DE" dirty="0"/>
          </a:p>
          <a:p>
            <a:pPr lvl="1"/>
            <a:r>
              <a:rPr lang="de-DE" dirty="0"/>
              <a:t>PostgreSQL</a:t>
            </a:r>
          </a:p>
          <a:p>
            <a:pPr lvl="1"/>
            <a:endParaRPr lang="de-DE" dirty="0"/>
          </a:p>
          <a:p>
            <a:pPr lvl="1"/>
            <a:r>
              <a:rPr lang="de-DE" dirty="0" err="1"/>
              <a:t>MariaDB</a:t>
            </a:r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/>
              <a:t>…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8FBF675-46BC-E16C-1408-C26DE285535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File-</a:t>
            </a:r>
            <a:r>
              <a:rPr lang="de-DE" dirty="0" err="1"/>
              <a:t>based</a:t>
            </a:r>
            <a:r>
              <a:rPr lang="de-DE" dirty="0"/>
              <a:t> DBMS/Data Lakehouse</a:t>
            </a:r>
          </a:p>
          <a:p>
            <a:endParaRPr lang="de-DE" dirty="0"/>
          </a:p>
          <a:p>
            <a:pPr lvl="1"/>
            <a:r>
              <a:rPr lang="de-DE" dirty="0"/>
              <a:t>??</a:t>
            </a:r>
          </a:p>
          <a:p>
            <a:pPr lvl="1"/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0C5451-F960-2895-C2CA-A89F82CD7B5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de-DE" dirty="0"/>
              <a:t>„Lightweight“ DBMS</a:t>
            </a:r>
          </a:p>
          <a:p>
            <a:endParaRPr lang="de-DE" dirty="0"/>
          </a:p>
          <a:p>
            <a:pPr lvl="1"/>
            <a:r>
              <a:rPr lang="de-DE" dirty="0" err="1"/>
              <a:t>DuckDB</a:t>
            </a:r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/>
              <a:t>SQLite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…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1D96286-F97B-0420-CE0E-14EA2681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DBMS-</a:t>
            </a:r>
            <a:r>
              <a:rPr lang="de-DE" dirty="0" err="1"/>
              <a:t>Selection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FB4E1DB-0BF0-9650-DF2B-066571782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0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3BB8E9E-5E5F-B2C8-E72E-6EAD65DC5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3200" dirty="0"/>
              <a:t>Questions </a:t>
            </a:r>
            <a:r>
              <a:rPr lang="de-DE" sz="3200" dirty="0" err="1"/>
              <a:t>regarding</a:t>
            </a:r>
            <a:r>
              <a:rPr lang="de-DE" sz="3200" dirty="0"/>
              <a:t> DB-Units?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C8CE774-ACAC-71C8-C2A6-C04F04D23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93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E230-1B44-F6A2-ECAB-00BABB04E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AD0367A-CB41-F4F4-C27E-8B02EC3304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C++/Rust4DB (Optimizer)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357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F8830-3A5C-2342-6FCE-D26EA4EF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993FA400-1201-DBFF-D414-86D646A0C096}"/>
              </a:ext>
            </a:extLst>
          </p:cNvPr>
          <p:cNvSpPr txBox="1"/>
          <p:nvPr/>
        </p:nvSpPr>
        <p:spPr>
          <a:xfrm>
            <a:off x="8313420" y="2578248"/>
            <a:ext cx="87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PB-</a:t>
            </a:r>
          </a:p>
          <a:p>
            <a:pPr algn="ctr"/>
            <a:r>
              <a:rPr lang="de-DE" sz="1200" dirty="0"/>
              <a:t>Packages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6C57114-BABF-7560-2D9D-D6E2C842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Details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F2C4B3-6EB8-1545-C5A3-E8D79B662254}"/>
              </a:ext>
            </a:extLst>
          </p:cNvPr>
          <p:cNvSpPr txBox="1">
            <a:spLocks/>
          </p:cNvSpPr>
          <p:nvPr/>
        </p:nvSpPr>
        <p:spPr>
          <a:xfrm>
            <a:off x="753370" y="919163"/>
            <a:ext cx="7637260" cy="37798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2"/>
            </a:solidFill>
            <a:prstDash val="solid"/>
            <a:miter lim="800000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tlCol="0" anchor="t"/>
          <a:lstStyle>
            <a:lvl1pPr marL="90488" indent="-90488" algn="l" defTabSz="685800" rtl="0" eaLnBrk="1" latinLnBrk="0" hangingPunct="1">
              <a:lnSpc>
                <a:spcPts val="2200"/>
              </a:lnSpc>
              <a:spcBef>
                <a:spcPts val="750"/>
              </a:spcBef>
              <a:buFont typeface="Muli" panose="00000500000000000000" pitchFamily="2" charset="0"/>
              <a:buChar char=" "/>
              <a:defRPr sz="1500" b="1" i="0" kern="1200" cap="none" baseline="0">
                <a:solidFill>
                  <a:srgbClr val="2F57B2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47675" indent="-1793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▪"/>
              <a:defRPr sz="1300" b="0" kern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627063" indent="-1793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Muli" panose="00000500000000000000" pitchFamily="2" charset="0"/>
              <a:buChar char="-"/>
              <a:defRPr sz="1200" b="0" kern="12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200" dirty="0">
                <a:solidFill>
                  <a:schemeClr val="tx2"/>
                </a:solidFill>
              </a:rPr>
              <a:t>Parser / Optimizer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9A0EE164-360C-C680-A04A-D1DC7165B407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179387" y="2809082"/>
            <a:ext cx="573983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7BC5E3F-47BF-813A-69B3-575218F1C34E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8390630" y="2809080"/>
            <a:ext cx="677170" cy="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F5AC28F6-394F-4CA5-BD54-1940569ADDE5}"/>
              </a:ext>
            </a:extLst>
          </p:cNvPr>
          <p:cNvSpPr txBox="1"/>
          <p:nvPr/>
        </p:nvSpPr>
        <p:spPr>
          <a:xfrm>
            <a:off x="180080" y="2532082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SQL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82C67A9-97CA-78DC-D47A-B3F1CE0C848B}"/>
              </a:ext>
            </a:extLst>
          </p:cNvPr>
          <p:cNvSpPr/>
          <p:nvPr/>
        </p:nvSpPr>
        <p:spPr>
          <a:xfrm>
            <a:off x="753370" y="2095503"/>
            <a:ext cx="1254500" cy="136889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Parser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353B15E-78E1-F791-4EED-9806B5A18653}"/>
              </a:ext>
            </a:extLst>
          </p:cNvPr>
          <p:cNvSpPr/>
          <p:nvPr/>
        </p:nvSpPr>
        <p:spPr>
          <a:xfrm>
            <a:off x="3944750" y="2095502"/>
            <a:ext cx="1254500" cy="136889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Optimizer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4C05201-11DF-3DE8-8833-BB0381390E2E}"/>
              </a:ext>
            </a:extLst>
          </p:cNvPr>
          <p:cNvSpPr/>
          <p:nvPr/>
        </p:nvSpPr>
        <p:spPr>
          <a:xfrm>
            <a:off x="7136130" y="2095503"/>
            <a:ext cx="1254500" cy="136889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/>
                </a:solidFill>
              </a:rPr>
              <a:t>Translation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18740551-2F26-1347-8A25-37D724F11B56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2007870" y="2779951"/>
            <a:ext cx="19368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02D857EE-6DF6-BEF5-9977-7A4938F580AB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5199250" y="2779951"/>
            <a:ext cx="19368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EB554142-4966-4B7B-FEE5-3C99B2E96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9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25" grpId="0" animBg="1"/>
      <p:bldP spid="26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097B-1560-625C-80E4-18CD6242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83310F1-152C-A34D-8F72-BB2003D02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Basic:</a:t>
            </a:r>
          </a:p>
          <a:p>
            <a:pPr lvl="1"/>
            <a:r>
              <a:rPr lang="en-GB" dirty="0"/>
              <a:t>Parsing and translation of an SQL-Query into system-specific PB-Packages</a:t>
            </a:r>
          </a:p>
          <a:p>
            <a:pPr lvl="1"/>
            <a:r>
              <a:rPr lang="en-GB" noProof="0" dirty="0"/>
              <a:t>Translation from Postgres-Plan to PB-Packages</a:t>
            </a:r>
          </a:p>
          <a:p>
            <a:pPr lvl="1"/>
            <a:r>
              <a:rPr lang="en-GB" dirty="0"/>
              <a:t>Multiple Queries at once (multi-threading)</a:t>
            </a:r>
            <a:endParaRPr lang="en-GB" noProof="0" dirty="0"/>
          </a:p>
          <a:p>
            <a:r>
              <a:rPr lang="en-GB" noProof="0" dirty="0"/>
              <a:t>Intermediate:</a:t>
            </a:r>
          </a:p>
          <a:p>
            <a:pPr lvl="1"/>
            <a:r>
              <a:rPr lang="en-GB" dirty="0"/>
              <a:t>Implementation of simple optimizations (e.g., simple Selection-Push-Down)</a:t>
            </a:r>
          </a:p>
          <a:p>
            <a:pPr lvl="1"/>
            <a:r>
              <a:rPr lang="en-GB" noProof="0" dirty="0"/>
              <a:t>Different physical operators are possible</a:t>
            </a:r>
          </a:p>
          <a:p>
            <a:r>
              <a:rPr lang="en-GB" noProof="0" dirty="0"/>
              <a:t>Advanced:</a:t>
            </a:r>
          </a:p>
          <a:p>
            <a:pPr lvl="1"/>
            <a:r>
              <a:rPr lang="en-GB" dirty="0"/>
              <a:t>Creating statistics on queries/created packages</a:t>
            </a:r>
            <a:endParaRPr lang="en-GB" noProof="0" dirty="0"/>
          </a:p>
          <a:p>
            <a:pPr lvl="1"/>
            <a:r>
              <a:rPr lang="en-GB" noProof="0" dirty="0"/>
              <a:t>UES (Explanation when necessary)</a:t>
            </a:r>
          </a:p>
          <a:p>
            <a:pPr lvl="1"/>
            <a:r>
              <a:rPr lang="en-GB" dirty="0"/>
              <a:t>Taking system capabilities into account</a:t>
            </a:r>
            <a:endParaRPr lang="en-GB" noProof="0" dirty="0"/>
          </a:p>
          <a:p>
            <a:pPr lvl="1"/>
            <a:r>
              <a:rPr lang="en-GB" dirty="0"/>
              <a:t>Your own creative ideas…</a:t>
            </a:r>
          </a:p>
          <a:p>
            <a:pPr lvl="1"/>
            <a:endParaRPr lang="en-GB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9F595CB-78BD-51CB-BF99-685A2F9C2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Expectations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1454305-3A1F-456F-9771-DE439EA1E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21" y="2776703"/>
            <a:ext cx="4030579" cy="200346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BEB73E9-5281-DFFD-A137-6A722BE46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2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40A5-6B6B-D629-0A0C-544BCB3C3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DADDB09-F970-2C52-4B69-95E6C6538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3200" dirty="0"/>
              <a:t>Questions </a:t>
            </a:r>
            <a:r>
              <a:rPr lang="de-DE" sz="3200" dirty="0" err="1"/>
              <a:t>regarding</a:t>
            </a:r>
            <a:r>
              <a:rPr lang="de-DE" sz="3200" dirty="0"/>
              <a:t> Optimizer?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C2E3F72-EE98-C169-6847-1D95A4CCF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16" y="0"/>
            <a:ext cx="1588168" cy="7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64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9862877-C3C8-D42F-EA94-8AAEE71D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Disclaimer &amp; Tools</a:t>
            </a:r>
          </a:p>
        </p:txBody>
      </p:sp>
    </p:spTree>
    <p:extLst>
      <p:ext uri="{BB962C8B-B14F-4D97-AF65-F5344CB8AC3E}">
        <p14:creationId xmlns:p14="http://schemas.microsoft.com/office/powerpoint/2010/main" val="3953857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DA2AA4-1B5E-BFD7-7E67-706A35692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You are NOT allowed to upload our code/papers/slides/etc. anywhere!</a:t>
            </a:r>
          </a:p>
          <a:p>
            <a:pPr lvl="1"/>
            <a:r>
              <a:rPr lang="en-GB" noProof="0" dirty="0"/>
              <a:t>This includes AI models like, e.g., ChatGPT.</a:t>
            </a:r>
          </a:p>
          <a:p>
            <a:pPr lvl="1"/>
            <a:endParaRPr lang="en-GB" noProof="0" dirty="0"/>
          </a:p>
          <a:p>
            <a:pPr lvl="1"/>
            <a:endParaRPr lang="en-GB" noProof="0" dirty="0"/>
          </a:p>
          <a:p>
            <a:pPr lvl="1"/>
            <a:endParaRPr lang="en-GB" noProof="0" dirty="0"/>
          </a:p>
          <a:p>
            <a:r>
              <a:rPr lang="en-GB" noProof="0" dirty="0"/>
              <a:t>You need to be transparent about your AI usage.</a:t>
            </a:r>
          </a:p>
          <a:p>
            <a:pPr lvl="1"/>
            <a:r>
              <a:rPr lang="en-GB" noProof="0" dirty="0"/>
              <a:t>For example, putting a disclaimer in the generated code.</a:t>
            </a:r>
          </a:p>
          <a:p>
            <a:pPr marL="0" indent="0">
              <a:buNone/>
            </a:pPr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You are allowed to use AI-Tools in general when you respect these simple rules.</a:t>
            </a:r>
          </a:p>
          <a:p>
            <a:pPr lvl="1"/>
            <a:r>
              <a:rPr lang="en-GB" noProof="0" dirty="0"/>
              <a:t>This includes, e.g., code generation.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CD8775-E475-287F-4D65-59F839DC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Disclaimer AI </a:t>
            </a:r>
            <a:r>
              <a:rPr lang="de-DE" dirty="0" err="1"/>
              <a:t>Usage</a:t>
            </a:r>
            <a:endParaRPr lang="de-DE" dirty="0"/>
          </a:p>
        </p:txBody>
      </p:sp>
      <p:pic>
        <p:nvPicPr>
          <p:cNvPr id="6" name="Grafik 5" descr="Daumen runter mit einfarbiger Füllung">
            <a:extLst>
              <a:ext uri="{FF2B5EF4-FFF2-40B4-BE49-F238E27FC236}">
                <a16:creationId xmlns:a16="http://schemas.microsoft.com/office/drawing/2014/main" id="{80FE0431-2549-E98D-5A11-E1205BC22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8916" y="7389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31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7C06D22-4E19-CB32-078A-1AE30E509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00" y="918992"/>
            <a:ext cx="8964000" cy="3780000"/>
          </a:xfrm>
        </p:spPr>
        <p:txBody>
          <a:bodyPr/>
          <a:lstStyle/>
          <a:p>
            <a:r>
              <a:rPr lang="en-GB" noProof="0" dirty="0"/>
              <a:t>We use GitLab for the projects</a:t>
            </a:r>
          </a:p>
          <a:p>
            <a:pPr lvl="1"/>
            <a:r>
              <a:rPr lang="en-GB" noProof="0" dirty="0"/>
              <a:t>Hosted by TU Chemnitz (login via Shibboleth </a:t>
            </a:r>
            <a:r>
              <a:rPr lang="en-GB" noProof="0" dirty="0">
                <a:sym typeface="Wingdings" panose="05000000000000000000" pitchFamily="2" charset="2"/>
              </a:rPr>
              <a:t> ZIH </a:t>
            </a:r>
            <a:r>
              <a:rPr lang="en-GB" dirty="0">
                <a:sym typeface="Wingdings" panose="05000000000000000000" pitchFamily="2" charset="2"/>
              </a:rPr>
              <a:t>login)  https://gitlab.hrz.tu-chemnitz.de/users/sign_in</a:t>
            </a:r>
            <a:endParaRPr lang="en-GB" noProof="0" dirty="0"/>
          </a:p>
          <a:p>
            <a:pPr lvl="1"/>
            <a:r>
              <a:rPr lang="en-GB" noProof="0" dirty="0"/>
              <a:t>I will create a GitLab repository for each group and invite you.</a:t>
            </a:r>
          </a:p>
          <a:p>
            <a:pPr lvl="1"/>
            <a:r>
              <a:rPr lang="en-GB" dirty="0"/>
              <a:t>Please use Issues, Merge Requests, and all the other cool features.</a:t>
            </a:r>
          </a:p>
          <a:p>
            <a:pPr lvl="1"/>
            <a:endParaRPr lang="en-GB" noProof="0" dirty="0"/>
          </a:p>
          <a:p>
            <a:r>
              <a:rPr lang="en-GB" noProof="0" dirty="0"/>
              <a:t>We use Matrix for communication</a:t>
            </a:r>
          </a:p>
          <a:p>
            <a:pPr lvl="1"/>
            <a:r>
              <a:rPr lang="en-GB" dirty="0"/>
              <a:t>Hosted by TU Dresden (login via Shibboleth </a:t>
            </a:r>
            <a:r>
              <a:rPr lang="en-GB" dirty="0">
                <a:sym typeface="Wingdings" panose="05000000000000000000" pitchFamily="2" charset="2"/>
              </a:rPr>
              <a:t> ZIH login)  https://matrix.tu-dresden.de/#/welcome</a:t>
            </a:r>
            <a:endParaRPr lang="en-GB" dirty="0"/>
          </a:p>
          <a:p>
            <a:pPr lvl="1"/>
            <a:r>
              <a:rPr lang="en-GB" noProof="0" dirty="0"/>
              <a:t>I will create individual spaces for each group.</a:t>
            </a:r>
          </a:p>
          <a:p>
            <a:pPr lvl="1"/>
            <a:r>
              <a:rPr lang="en-GB" noProof="0" dirty="0"/>
              <a:t>There will be a room where you can communicate with me directly.</a:t>
            </a:r>
          </a:p>
          <a:p>
            <a:pPr lvl="1"/>
            <a:r>
              <a:rPr lang="en-GB" dirty="0"/>
              <a:t>You can create your own rooms for specific purposes (e.g., Bots)</a:t>
            </a:r>
          </a:p>
          <a:p>
            <a:pPr lvl="1"/>
            <a:endParaRPr lang="en-GB" noProof="0" dirty="0"/>
          </a:p>
          <a:p>
            <a:pPr lvl="1"/>
            <a:endParaRPr lang="en-GB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E88C76-352E-F681-F364-B5CAAB62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Tools</a:t>
            </a:r>
          </a:p>
        </p:txBody>
      </p:sp>
    </p:spTree>
    <p:extLst>
      <p:ext uri="{BB962C8B-B14F-4D97-AF65-F5344CB8AC3E}">
        <p14:creationId xmlns:p14="http://schemas.microsoft.com/office/powerpoint/2010/main" val="370216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62050-4963-BB9F-2D49-719E429B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097998A-8805-6018-4515-637DEEE8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32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7946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AB2C860-9143-D614-632E-F5E0C4D1DA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GroupBy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5068226"/>
      </p:ext>
    </p:extLst>
  </p:cSld>
  <p:clrMapOvr>
    <a:masterClrMapping/>
  </p:clrMapOvr>
</p:sld>
</file>

<file path=ppt/theme/theme1.xml><?xml version="1.0" encoding="utf-8"?>
<a:theme xmlns:a="http://schemas.openxmlformats.org/drawingml/2006/main" name="DB_theme">
  <a:themeElements>
    <a:clrScheme name="PAL-CD">
      <a:dk1>
        <a:srgbClr val="4C4D4D"/>
      </a:dk1>
      <a:lt1>
        <a:sysClr val="window" lastClr="FFFFFF"/>
      </a:lt1>
      <a:dk2>
        <a:srgbClr val="171616"/>
      </a:dk2>
      <a:lt2>
        <a:srgbClr val="E7E6E6"/>
      </a:lt2>
      <a:accent1>
        <a:srgbClr val="40B498"/>
      </a:accent1>
      <a:accent2>
        <a:srgbClr val="B1D285"/>
      </a:accent2>
      <a:accent3>
        <a:srgbClr val="1F8299"/>
      </a:accent3>
      <a:accent4>
        <a:srgbClr val="F9C611"/>
      </a:accent4>
      <a:accent5>
        <a:srgbClr val="EA4F30"/>
      </a:accent5>
      <a:accent6>
        <a:srgbClr val="994781"/>
      </a:accent6>
      <a:hlink>
        <a:srgbClr val="1F8299"/>
      </a:hlink>
      <a:folHlink>
        <a:srgbClr val="994781"/>
      </a:folHlink>
    </a:clrScheme>
    <a:fontScheme name="TUD CD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/>
        </a:defPPr>
      </a:lstStyle>
    </a:txDef>
  </a:objectDefaults>
  <a:extraClrSchemeLst/>
  <a:custClrLst>
    <a:custClr name="Brillantblau">
      <a:srgbClr val="00008C"/>
    </a:custClr>
    <a:custClr name="Blau 1">
      <a:srgbClr val="2F57B2"/>
    </a:custClr>
    <a:custClr name="Violett 1">
      <a:srgbClr val="7369BE"/>
    </a:custClr>
    <a:custClr name="Magenta 1">
      <a:srgbClr val="BC1589"/>
    </a:custClr>
    <a:custClr name="Rot 1">
      <a:srgbClr val="D20F41"/>
    </a:custClr>
    <a:custClr name="Orange 1">
      <a:srgbClr val="C85000"/>
    </a:custClr>
    <a:custClr name="Gelb 1">
      <a:srgbClr val="FFC700"/>
    </a:custClr>
    <a:custClr name="Oliv 1">
      <a:srgbClr val="767A23"/>
    </a:custClr>
    <a:custClr name="Grün 1">
      <a:srgbClr val="007D4B"/>
    </a:custClr>
    <a:custClr name="Türkis 1">
      <a:srgbClr val="0A777F"/>
    </a:custClr>
    <a:custClr name="Dunkelblau">
      <a:srgbClr val="001450"/>
    </a:custClr>
    <a:custClr name="Blau 2">
      <a:srgbClr val="97C6FF"/>
    </a:custClr>
    <a:custClr name="Violett 2">
      <a:srgbClr val="C8C8FF"/>
    </a:custClr>
    <a:custClr name="Magenta 2">
      <a:srgbClr val="FFB9FF"/>
    </a:custClr>
    <a:custClr name="Rot 2">
      <a:srgbClr val="FFAAA5"/>
    </a:custClr>
    <a:custClr name="Orange 2">
      <a:srgbClr val="FFBE78"/>
    </a:custClr>
    <a:custClr name="Gelb 2">
      <a:srgbClr val="FFE483"/>
    </a:custClr>
    <a:custClr name="Oliv 2">
      <a:srgbClr val="D2DC46"/>
    </a:custClr>
    <a:custClr name="Grün 2">
      <a:srgbClr val="8CE6AA"/>
    </a:custClr>
    <a:custClr name="Türkis 2">
      <a:srgbClr val="8CE6D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Schwarz">
      <a:srgbClr val="000000"/>
    </a:custClr>
    <a:custClr name="Weiß">
      <a:srgbClr val="FFFFFF"/>
    </a:custClr>
    <a:custClr name="Grau 100">
      <a:srgbClr val="323F4B"/>
    </a:custClr>
    <a:custClr name="Grau 80">
      <a:srgbClr val="566371"/>
    </a:custClr>
    <a:custClr name="Grau 60">
      <a:srgbClr val="7D8894"/>
    </a:custClr>
    <a:custClr name="Grau 40">
      <a:srgbClr val="A5AEB8"/>
    </a:custClr>
    <a:custClr name="Grau 20">
      <a:srgbClr val="D0D5DC"/>
    </a:custClr>
    <a:custClr name="Grau 10">
      <a:srgbClr val="E7E9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DB_template_26v2.potx" id="{346595A6-02AF-417F-B415-CE76A098590B}" vid="{48E7935D-9E50-4D71-ABDC-0DDEEDD198F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Muli"/>
        <a:ea typeface=""/>
        <a:cs typeface=""/>
      </a:majorFont>
      <a:minorFont>
        <a:latin typeface="Mul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Muli"/>
        <a:ea typeface=""/>
        <a:cs typeface=""/>
      </a:majorFont>
      <a:minorFont>
        <a:latin typeface="Mul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DB_template_27</Template>
  <TotalTime>0</TotalTime>
  <Words>553</Words>
  <Application>Microsoft Office PowerPoint</Application>
  <PresentationFormat>Bildschirmpräsentation (16:9)</PresentationFormat>
  <Paragraphs>183</Paragraphs>
  <Slides>18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Arial</vt:lpstr>
      <vt:lpstr>Muli</vt:lpstr>
      <vt:lpstr>Noto Sans</vt:lpstr>
      <vt:lpstr>Open Sans</vt:lpstr>
      <vt:lpstr>Wingdings</vt:lpstr>
      <vt:lpstr>DB_theme</vt:lpstr>
      <vt:lpstr>0. Kickoff</vt:lpstr>
      <vt:lpstr>Disaggregation</vt:lpstr>
      <vt:lpstr>System Architecture</vt:lpstr>
      <vt:lpstr>Projects</vt:lpstr>
      <vt:lpstr>DB-Units</vt:lpstr>
      <vt:lpstr>Details</vt:lpstr>
      <vt:lpstr>Expectations</vt:lpstr>
      <vt:lpstr>DBMS-Selection</vt:lpstr>
      <vt:lpstr>PowerPoint-Präsentation</vt:lpstr>
      <vt:lpstr>C++/Rust4DB (Optimizer)</vt:lpstr>
      <vt:lpstr>Details</vt:lpstr>
      <vt:lpstr>Expectations</vt:lpstr>
      <vt:lpstr>PowerPoint-Präsentation</vt:lpstr>
      <vt:lpstr>Disclaimer &amp; Tools</vt:lpstr>
      <vt:lpstr>Disclaimer AI Usage</vt:lpstr>
      <vt:lpstr>Tools</vt:lpstr>
      <vt:lpstr>PowerPoint-Präsentation</vt:lpstr>
      <vt:lpstr>GroupBy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Geyer</dc:creator>
  <cp:lastModifiedBy>Andreas Geyer</cp:lastModifiedBy>
  <cp:revision>15</cp:revision>
  <cp:lastPrinted>2017-08-03T12:32:02Z</cp:lastPrinted>
  <dcterms:created xsi:type="dcterms:W3CDTF">2025-10-09T07:43:50Z</dcterms:created>
  <dcterms:modified xsi:type="dcterms:W3CDTF">2025-10-16T07:54:16Z</dcterms:modified>
</cp:coreProperties>
</file>